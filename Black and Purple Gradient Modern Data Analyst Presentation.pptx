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Poppins Bold" charset="0"/>
      <p:regular r:id="rId9"/>
    </p:embeddedFont>
    <p:embeddedFont>
      <p:font typeface="Calibri" pitchFamily="34" charset="0"/>
      <p:regular r:id="rId10"/>
      <p:bold r:id="rId11"/>
      <p:italic r:id="rId12"/>
      <p:boldItalic r:id="rId13"/>
    </p:embeddedFont>
    <p:embeddedFont>
      <p:font typeface="Poppins" charset="0"/>
      <p:regular r:id="rId14"/>
    </p:embeddedFont>
    <p:embeddedFont>
      <p:font typeface="Canva Sans"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1" d="100"/>
          <a:sy n="51" d="100"/>
        </p:scale>
        <p:origin x="-456" y="4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svg"/><Relationship Id="rId7"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3.svg"/><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765" y="84778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grpSp>
        <p:nvGrpSpPr>
          <p:cNvPr id="3" name="Group 3"/>
          <p:cNvGrpSpPr/>
          <p:nvPr/>
        </p:nvGrpSpPr>
        <p:grpSpPr>
          <a:xfrm>
            <a:off x="16249070" y="4638385"/>
            <a:ext cx="1010230" cy="101023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5" name="TextBox 5"/>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6" name="Freeform 6"/>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7" name="Group 7"/>
          <p:cNvGrpSpPr/>
          <p:nvPr/>
        </p:nvGrpSpPr>
        <p:grpSpPr>
          <a:xfrm>
            <a:off x="16381397" y="6183699"/>
            <a:ext cx="745577" cy="74557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9" name="TextBox 9"/>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0" name="Group 10"/>
          <p:cNvGrpSpPr/>
          <p:nvPr/>
        </p:nvGrpSpPr>
        <p:grpSpPr>
          <a:xfrm>
            <a:off x="16381397" y="3357724"/>
            <a:ext cx="745577" cy="74557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2" name="TextBox 12"/>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3" name="Group 13"/>
          <p:cNvGrpSpPr/>
          <p:nvPr/>
        </p:nvGrpSpPr>
        <p:grpSpPr>
          <a:xfrm>
            <a:off x="3322001" y="4841496"/>
            <a:ext cx="4476583" cy="1061718"/>
            <a:chOff x="0" y="0"/>
            <a:chExt cx="630999" cy="149655"/>
          </a:xfrm>
        </p:grpSpPr>
        <p:sp>
          <p:nvSpPr>
            <p:cNvPr id="14" name="Freeform 14"/>
            <p:cNvSpPr/>
            <p:nvPr/>
          </p:nvSpPr>
          <p:spPr>
            <a:xfrm>
              <a:off x="0" y="0"/>
              <a:ext cx="630999" cy="149655"/>
            </a:xfrm>
            <a:custGeom>
              <a:avLst/>
              <a:gdLst/>
              <a:ahLst/>
              <a:cxnLst/>
              <a:rect l="l" t="t" r="r" b="b"/>
              <a:pathLst>
                <a:path w="630999" h="149655">
                  <a:moveTo>
                    <a:pt x="74827" y="0"/>
                  </a:moveTo>
                  <a:lnTo>
                    <a:pt x="556172" y="0"/>
                  </a:lnTo>
                  <a:cubicBezTo>
                    <a:pt x="597498" y="0"/>
                    <a:pt x="630999" y="33501"/>
                    <a:pt x="630999" y="74827"/>
                  </a:cubicBezTo>
                  <a:lnTo>
                    <a:pt x="630999" y="74827"/>
                  </a:lnTo>
                  <a:cubicBezTo>
                    <a:pt x="630999" y="116154"/>
                    <a:pt x="597498" y="149655"/>
                    <a:pt x="556172" y="149655"/>
                  </a:cubicBezTo>
                  <a:lnTo>
                    <a:pt x="74827" y="149655"/>
                  </a:lnTo>
                  <a:cubicBezTo>
                    <a:pt x="33501" y="149655"/>
                    <a:pt x="0" y="116154"/>
                    <a:pt x="0" y="74827"/>
                  </a:cubicBezTo>
                  <a:lnTo>
                    <a:pt x="0" y="74827"/>
                  </a:lnTo>
                  <a:cubicBezTo>
                    <a:pt x="0" y="33501"/>
                    <a:pt x="33501" y="0"/>
                    <a:pt x="74827"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15" name="TextBox 15"/>
            <p:cNvSpPr txBox="1"/>
            <p:nvPr/>
          </p:nvSpPr>
          <p:spPr>
            <a:xfrm>
              <a:off x="0" y="-47625"/>
              <a:ext cx="630999" cy="197280"/>
            </a:xfrm>
            <a:prstGeom prst="rect">
              <a:avLst/>
            </a:prstGeom>
          </p:spPr>
          <p:txBody>
            <a:bodyPr lIns="50800" tIns="50800" rIns="50800" bIns="50800" rtlCol="0" anchor="ctr"/>
            <a:lstStyle/>
            <a:p>
              <a:pPr algn="ctr">
                <a:lnSpc>
                  <a:spcPts val="4339"/>
                </a:lnSpc>
                <a:spcBef>
                  <a:spcPct val="0"/>
                </a:spcBef>
              </a:pPr>
              <a:r>
                <a:rPr lang="en-US" sz="3099">
                  <a:solidFill>
                    <a:srgbClr val="FFFFFF"/>
                  </a:solidFill>
                  <a:latin typeface="Canva Sans"/>
                  <a:ea typeface="Canva Sans"/>
                  <a:cs typeface="Canva Sans"/>
                  <a:sym typeface="Canva Sans"/>
                </a:rPr>
                <a:t>Parle Company</a:t>
              </a:r>
            </a:p>
          </p:txBody>
        </p:sp>
      </p:grpSp>
      <p:grpSp>
        <p:nvGrpSpPr>
          <p:cNvPr id="16" name="Group 16"/>
          <p:cNvGrpSpPr/>
          <p:nvPr/>
        </p:nvGrpSpPr>
        <p:grpSpPr>
          <a:xfrm>
            <a:off x="13060451" y="2687216"/>
            <a:ext cx="3017748" cy="2866690"/>
            <a:chOff x="0" y="0"/>
            <a:chExt cx="1652976" cy="1652976"/>
          </a:xfrm>
        </p:grpSpPr>
        <p:sp>
          <p:nvSpPr>
            <p:cNvPr id="17" name="Freeform 17"/>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18" name="TextBox 18"/>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3112296" y="2656731"/>
            <a:ext cx="2845057" cy="2772606"/>
            <a:chOff x="-26632" y="74503"/>
            <a:chExt cx="404756" cy="406400"/>
          </a:xfrm>
        </p:grpSpPr>
        <p:sp>
          <p:nvSpPr>
            <p:cNvPr id="20" name="Freeform 20"/>
            <p:cNvSpPr/>
            <p:nvPr/>
          </p:nvSpPr>
          <p:spPr>
            <a:xfrm>
              <a:off x="-26632" y="74503"/>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5"/>
              <a:stretch>
                <a:fillRect l="-45171" r="-45171"/>
              </a:stretch>
            </a:blipFill>
          </p:spPr>
        </p:sp>
      </p:grpSp>
      <p:sp>
        <p:nvSpPr>
          <p:cNvPr id="21" name="Freeform 21"/>
          <p:cNvSpPr/>
          <p:nvPr/>
        </p:nvSpPr>
        <p:spPr>
          <a:xfrm rot="5400000">
            <a:off x="13327144" y="5433767"/>
            <a:ext cx="4422622" cy="4852317"/>
          </a:xfrm>
          <a:custGeom>
            <a:avLst/>
            <a:gdLst/>
            <a:ahLst/>
            <a:cxnLst/>
            <a:rect l="l" t="t" r="r" b="b"/>
            <a:pathLst>
              <a:path w="4422622" h="4852317">
                <a:moveTo>
                  <a:pt x="0" y="0"/>
                </a:moveTo>
                <a:lnTo>
                  <a:pt x="4422622" y="0"/>
                </a:lnTo>
                <a:lnTo>
                  <a:pt x="4422622" y="4852317"/>
                </a:lnTo>
                <a:lnTo>
                  <a:pt x="0" y="4852317"/>
                </a:lnTo>
                <a:lnTo>
                  <a:pt x="0" y="0"/>
                </a:lnTo>
                <a:close/>
              </a:path>
            </a:pathLst>
          </a:custGeom>
          <a:blipFill>
            <a:blip r:embed="rId6">
              <a:alphaModFix amt="19999"/>
            </a:blip>
            <a:stretch>
              <a:fillRect b="-6601"/>
            </a:stretch>
          </a:blipFill>
        </p:spPr>
      </p:sp>
      <p:sp>
        <p:nvSpPr>
          <p:cNvPr id="22" name="TextBox 22"/>
          <p:cNvSpPr txBox="1"/>
          <p:nvPr/>
        </p:nvSpPr>
        <p:spPr>
          <a:xfrm>
            <a:off x="597796" y="3337741"/>
            <a:ext cx="12737204" cy="1372171"/>
          </a:xfrm>
          <a:prstGeom prst="rect">
            <a:avLst/>
          </a:prstGeom>
        </p:spPr>
        <p:txBody>
          <a:bodyPr wrap="square" lIns="0" tIns="0" rIns="0" bIns="0" rtlCol="0" anchor="t">
            <a:spAutoFit/>
          </a:bodyPr>
          <a:lstStyle/>
          <a:p>
            <a:pPr>
              <a:lnSpc>
                <a:spcPts val="10732"/>
              </a:lnSpc>
            </a:pPr>
            <a:r>
              <a:rPr lang="en-US" sz="10319" b="1" dirty="0">
                <a:solidFill>
                  <a:srgbClr val="FFFFFF"/>
                </a:solidFill>
                <a:latin typeface="Poppins Bold"/>
                <a:ea typeface="Poppins Bold"/>
                <a:cs typeface="Poppins Bold"/>
                <a:sym typeface="Poppins Bold"/>
              </a:rPr>
              <a:t>Data </a:t>
            </a:r>
            <a:r>
              <a:rPr lang="en-US" sz="10319" b="1" dirty="0">
                <a:solidFill>
                  <a:srgbClr val="FFFFFF"/>
                </a:solidFill>
                <a:latin typeface="Poppins Bold"/>
                <a:ea typeface="Poppins Bold"/>
                <a:cs typeface="Poppins Bold"/>
                <a:sym typeface="Poppins Bold"/>
              </a:rPr>
              <a:t>visualization </a:t>
            </a:r>
          </a:p>
        </p:txBody>
      </p:sp>
      <p:sp>
        <p:nvSpPr>
          <p:cNvPr id="24" name="TextBox 24"/>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sp>
        <p:nvSpPr>
          <p:cNvPr id="25" name="TextBox 25"/>
          <p:cNvSpPr txBox="1"/>
          <p:nvPr/>
        </p:nvSpPr>
        <p:spPr>
          <a:xfrm>
            <a:off x="16381397" y="6429483"/>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sp>
        <p:nvSpPr>
          <p:cNvPr id="26" name="TextBox 26"/>
          <p:cNvSpPr txBox="1"/>
          <p:nvPr/>
        </p:nvSpPr>
        <p:spPr>
          <a:xfrm>
            <a:off x="16381397" y="3603508"/>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
        <p:nvSpPr>
          <p:cNvPr id="27" name="TextBox 27"/>
          <p:cNvSpPr txBox="1"/>
          <p:nvPr/>
        </p:nvSpPr>
        <p:spPr>
          <a:xfrm>
            <a:off x="9650877" y="7266549"/>
            <a:ext cx="8637123" cy="4308872"/>
          </a:xfrm>
          <a:prstGeom prst="rect">
            <a:avLst/>
          </a:prstGeom>
        </p:spPr>
        <p:txBody>
          <a:bodyPr lIns="0" tIns="0" rIns="0" bIns="0" rtlCol="0" anchor="t">
            <a:spAutoFit/>
          </a:bodyPr>
          <a:lstStyle/>
          <a:p>
            <a:pPr algn="ctr">
              <a:lnSpc>
                <a:spcPts val="4195"/>
              </a:lnSpc>
              <a:spcBef>
                <a:spcPct val="0"/>
              </a:spcBef>
            </a:pPr>
            <a:r>
              <a:rPr lang="en-US" sz="2996" dirty="0">
                <a:solidFill>
                  <a:srgbClr val="FFFFFF"/>
                </a:solidFill>
                <a:latin typeface="Poppins"/>
                <a:ea typeface="Poppins"/>
                <a:cs typeface="Poppins"/>
                <a:sym typeface="Poppins"/>
              </a:rPr>
              <a:t>PRESENTED BY :</a:t>
            </a:r>
          </a:p>
          <a:p>
            <a:pPr algn="ctr">
              <a:lnSpc>
                <a:spcPts val="4195"/>
              </a:lnSpc>
              <a:spcBef>
                <a:spcPct val="0"/>
              </a:spcBef>
            </a:pPr>
            <a:r>
              <a:rPr lang="en-US" sz="2996" dirty="0">
                <a:solidFill>
                  <a:srgbClr val="FFFFFF"/>
                </a:solidFill>
                <a:latin typeface="Poppins"/>
                <a:ea typeface="Poppins"/>
                <a:cs typeface="Poppins"/>
                <a:sym typeface="Poppins"/>
              </a:rPr>
              <a:t>                 </a:t>
            </a:r>
            <a:r>
              <a:rPr lang="en-US" sz="2996" dirty="0" smtClean="0">
                <a:solidFill>
                  <a:srgbClr val="FFFFFF"/>
                </a:solidFill>
                <a:latin typeface="Poppins"/>
                <a:ea typeface="Poppins"/>
                <a:cs typeface="Poppins"/>
                <a:sym typeface="Poppins"/>
              </a:rPr>
              <a:t> </a:t>
            </a:r>
            <a:r>
              <a:rPr lang="en-US" sz="2996" dirty="0">
                <a:solidFill>
                  <a:srgbClr val="FFFFFF"/>
                </a:solidFill>
                <a:latin typeface="Poppins"/>
                <a:ea typeface="Poppins"/>
                <a:cs typeface="Poppins"/>
                <a:sym typeface="Poppins"/>
              </a:rPr>
              <a:t>KHUSHI </a:t>
            </a:r>
            <a:r>
              <a:rPr lang="en-US" sz="2996" dirty="0" smtClean="0">
                <a:solidFill>
                  <a:srgbClr val="FFFFFF"/>
                </a:solidFill>
                <a:latin typeface="Poppins"/>
                <a:ea typeface="Poppins"/>
                <a:cs typeface="Poppins"/>
                <a:sym typeface="Poppins"/>
              </a:rPr>
              <a:t>KUSHWAHA </a:t>
            </a:r>
            <a:endParaRPr lang="en-US" sz="2996" dirty="0">
              <a:solidFill>
                <a:srgbClr val="FFFFFF"/>
              </a:solidFill>
              <a:latin typeface="Poppins"/>
              <a:ea typeface="Poppins"/>
              <a:cs typeface="Poppins"/>
              <a:sym typeface="Poppins"/>
            </a:endParaRPr>
          </a:p>
          <a:p>
            <a:pPr algn="ctr">
              <a:lnSpc>
                <a:spcPts val="4195"/>
              </a:lnSpc>
              <a:spcBef>
                <a:spcPct val="0"/>
              </a:spcBef>
            </a:pPr>
            <a:r>
              <a:rPr lang="en-US" sz="2996" dirty="0">
                <a:solidFill>
                  <a:srgbClr val="FFFFFF"/>
                </a:solidFill>
                <a:latin typeface="Poppins"/>
                <a:ea typeface="Poppins"/>
                <a:cs typeface="Poppins"/>
                <a:sym typeface="Poppins"/>
              </a:rPr>
              <a:t>                  MUSKAN MISHRA</a:t>
            </a:r>
          </a:p>
          <a:p>
            <a:pPr algn="ctr">
              <a:lnSpc>
                <a:spcPts val="4195"/>
              </a:lnSpc>
              <a:spcBef>
                <a:spcPct val="0"/>
              </a:spcBef>
            </a:pPr>
            <a:r>
              <a:rPr lang="en-US" sz="2996" dirty="0">
                <a:solidFill>
                  <a:srgbClr val="FFFFFF"/>
                </a:solidFill>
                <a:latin typeface="Poppins"/>
                <a:ea typeface="Poppins"/>
                <a:cs typeface="Poppins"/>
                <a:sym typeface="Poppins"/>
              </a:rPr>
              <a:t>                   SANCHITA YADAV</a:t>
            </a:r>
          </a:p>
          <a:p>
            <a:pPr algn="ctr">
              <a:lnSpc>
                <a:spcPts val="4195"/>
              </a:lnSpc>
              <a:spcBef>
                <a:spcPct val="0"/>
              </a:spcBef>
            </a:pPr>
            <a:r>
              <a:rPr lang="en-US" sz="2996" dirty="0">
                <a:solidFill>
                  <a:srgbClr val="FFFFFF"/>
                </a:solidFill>
                <a:latin typeface="Poppins"/>
                <a:ea typeface="Poppins"/>
                <a:cs typeface="Poppins"/>
                <a:sym typeface="Poppins"/>
              </a:rPr>
              <a:t>                SHAGUN GUPTA </a:t>
            </a:r>
            <a:endParaRPr lang="en-US" sz="2996" dirty="0" smtClean="0">
              <a:solidFill>
                <a:srgbClr val="FFFFFF"/>
              </a:solidFill>
              <a:latin typeface="Poppins"/>
              <a:ea typeface="Poppins"/>
              <a:cs typeface="Poppins"/>
              <a:sym typeface="Poppins"/>
            </a:endParaRPr>
          </a:p>
          <a:p>
            <a:pPr algn="ctr">
              <a:lnSpc>
                <a:spcPts val="4195"/>
              </a:lnSpc>
              <a:spcBef>
                <a:spcPct val="0"/>
              </a:spcBef>
            </a:pPr>
            <a:r>
              <a:rPr lang="en-US" sz="2996" dirty="0" smtClean="0">
                <a:solidFill>
                  <a:srgbClr val="FFFFFF"/>
                </a:solidFill>
                <a:latin typeface="Poppins"/>
                <a:ea typeface="Poppins"/>
                <a:cs typeface="Poppins"/>
                <a:sym typeface="Poppins"/>
              </a:rPr>
              <a:t>                   GAURI AGRAWAL</a:t>
            </a:r>
          </a:p>
          <a:p>
            <a:pPr algn="ctr">
              <a:lnSpc>
                <a:spcPts val="4195"/>
              </a:lnSpc>
              <a:spcBef>
                <a:spcPct val="0"/>
              </a:spcBef>
            </a:pPr>
            <a:r>
              <a:rPr lang="en-US" sz="2996" dirty="0" smtClean="0">
                <a:solidFill>
                  <a:srgbClr val="FFFFFF"/>
                </a:solidFill>
                <a:latin typeface="Poppins"/>
                <a:ea typeface="Poppins"/>
                <a:cs typeface="Poppins"/>
                <a:sym typeface="Poppins"/>
              </a:rPr>
              <a:t>                    NIVEDETA GUPTA</a:t>
            </a:r>
          </a:p>
          <a:p>
            <a:pPr algn="ctr">
              <a:lnSpc>
                <a:spcPts val="4195"/>
              </a:lnSpc>
              <a:spcBef>
                <a:spcPct val="0"/>
              </a:spcBef>
            </a:pPr>
            <a:endParaRPr lang="en-US" sz="2996" dirty="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184083" flipH="1" flipV="1">
            <a:off x="4621206" y="3563465"/>
            <a:ext cx="5755537" cy="6731622"/>
          </a:xfrm>
          <a:custGeom>
            <a:avLst/>
            <a:gdLst/>
            <a:ahLst/>
            <a:cxnLst/>
            <a:rect l="l" t="t" r="r" b="b"/>
            <a:pathLst>
              <a:path w="5755537" h="6731622">
                <a:moveTo>
                  <a:pt x="5755536" y="6731622"/>
                </a:moveTo>
                <a:lnTo>
                  <a:pt x="0" y="6731622"/>
                </a:lnTo>
                <a:lnTo>
                  <a:pt x="0" y="0"/>
                </a:lnTo>
                <a:lnTo>
                  <a:pt x="5755536" y="0"/>
                </a:lnTo>
                <a:lnTo>
                  <a:pt x="5755536" y="6731622"/>
                </a:lnTo>
                <a:close/>
              </a:path>
            </a:pathLst>
          </a:custGeom>
          <a:blipFill>
            <a:blip r:embed="rId4">
              <a:alphaModFix amt="19999"/>
            </a:blip>
            <a:stretch>
              <a:fillRect/>
            </a:stretch>
          </a:blipFill>
        </p:spPr>
      </p:sp>
      <p:grpSp>
        <p:nvGrpSpPr>
          <p:cNvPr id="4" name="Group 4"/>
          <p:cNvGrpSpPr/>
          <p:nvPr/>
        </p:nvGrpSpPr>
        <p:grpSpPr>
          <a:xfrm>
            <a:off x="11172872" y="2482213"/>
            <a:ext cx="6378824" cy="2859186"/>
            <a:chOff x="0" y="0"/>
            <a:chExt cx="1100078" cy="493089"/>
          </a:xfrm>
        </p:grpSpPr>
        <p:sp>
          <p:nvSpPr>
            <p:cNvPr id="5" name="Freeform 5"/>
            <p:cNvSpPr/>
            <p:nvPr/>
          </p:nvSpPr>
          <p:spPr>
            <a:xfrm>
              <a:off x="0" y="0"/>
              <a:ext cx="1100078" cy="493089"/>
            </a:xfrm>
            <a:custGeom>
              <a:avLst/>
              <a:gdLst/>
              <a:ahLst/>
              <a:cxnLst/>
              <a:rect l="l" t="t" r="r" b="b"/>
              <a:pathLst>
                <a:path w="1100078" h="493089">
                  <a:moveTo>
                    <a:pt x="27915" y="0"/>
                  </a:moveTo>
                  <a:lnTo>
                    <a:pt x="1072163" y="0"/>
                  </a:lnTo>
                  <a:cubicBezTo>
                    <a:pt x="1087580" y="0"/>
                    <a:pt x="1100078" y="12498"/>
                    <a:pt x="1100078" y="27915"/>
                  </a:cubicBezTo>
                  <a:lnTo>
                    <a:pt x="1100078" y="465174"/>
                  </a:lnTo>
                  <a:cubicBezTo>
                    <a:pt x="1100078" y="472578"/>
                    <a:pt x="1097137" y="479678"/>
                    <a:pt x="1091902" y="484913"/>
                  </a:cubicBezTo>
                  <a:cubicBezTo>
                    <a:pt x="1086667" y="490148"/>
                    <a:pt x="1079567" y="493089"/>
                    <a:pt x="1072163" y="493089"/>
                  </a:cubicBezTo>
                  <a:lnTo>
                    <a:pt x="27915" y="493089"/>
                  </a:lnTo>
                  <a:cubicBezTo>
                    <a:pt x="12498" y="493089"/>
                    <a:pt x="0" y="480591"/>
                    <a:pt x="0" y="465174"/>
                  </a:cubicBezTo>
                  <a:lnTo>
                    <a:pt x="0" y="27915"/>
                  </a:lnTo>
                  <a:cubicBezTo>
                    <a:pt x="0" y="12498"/>
                    <a:pt x="12498" y="0"/>
                    <a:pt x="27915" y="0"/>
                  </a:cubicBezTo>
                  <a:close/>
                </a:path>
              </a:pathLst>
            </a:custGeom>
            <a:blipFill>
              <a:blip r:embed="rId5"/>
              <a:stretch>
                <a:fillRect t="-30247" b="-30247"/>
              </a:stretch>
            </a:blipFill>
          </p:spPr>
        </p:sp>
      </p:grpSp>
      <p:grpSp>
        <p:nvGrpSpPr>
          <p:cNvPr id="6" name="Group 6"/>
          <p:cNvGrpSpPr/>
          <p:nvPr/>
        </p:nvGrpSpPr>
        <p:grpSpPr>
          <a:xfrm>
            <a:off x="10703750" y="4677529"/>
            <a:ext cx="2749078" cy="2749078"/>
            <a:chOff x="0" y="0"/>
            <a:chExt cx="1652976" cy="1652976"/>
          </a:xfrm>
        </p:grpSpPr>
        <p:sp>
          <p:nvSpPr>
            <p:cNvPr id="7" name="Freeform 7"/>
            <p:cNvSpPr/>
            <p:nvPr/>
          </p:nvSpPr>
          <p:spPr>
            <a:xfrm>
              <a:off x="0" y="0"/>
              <a:ext cx="1652976" cy="1652976"/>
            </a:xfrm>
            <a:custGeom>
              <a:avLst/>
              <a:gdLst/>
              <a:ahLst/>
              <a:cxnLst/>
              <a:rect l="l" t="t" r="r" b="b"/>
              <a:pathLst>
                <a:path w="1652976" h="1652976">
                  <a:moveTo>
                    <a:pt x="78766" y="0"/>
                  </a:moveTo>
                  <a:lnTo>
                    <a:pt x="1574210" y="0"/>
                  </a:lnTo>
                  <a:cubicBezTo>
                    <a:pt x="1617712" y="0"/>
                    <a:pt x="1652976" y="35265"/>
                    <a:pt x="1652976" y="78766"/>
                  </a:cubicBezTo>
                  <a:lnTo>
                    <a:pt x="1652976" y="1574210"/>
                  </a:lnTo>
                  <a:cubicBezTo>
                    <a:pt x="1652976" y="1617712"/>
                    <a:pt x="1617712" y="1652976"/>
                    <a:pt x="1574210" y="1652976"/>
                  </a:cubicBezTo>
                  <a:lnTo>
                    <a:pt x="78766" y="1652976"/>
                  </a:lnTo>
                  <a:cubicBezTo>
                    <a:pt x="35265" y="1652976"/>
                    <a:pt x="0" y="1617712"/>
                    <a:pt x="0" y="1574210"/>
                  </a:cubicBezTo>
                  <a:lnTo>
                    <a:pt x="0" y="78766"/>
                  </a:lnTo>
                  <a:cubicBezTo>
                    <a:pt x="0" y="35265"/>
                    <a:pt x="35265" y="0"/>
                    <a:pt x="78766"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8" name="TextBox 8"/>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868743" y="4837611"/>
            <a:ext cx="2419092" cy="2428916"/>
            <a:chOff x="0" y="0"/>
            <a:chExt cx="404756" cy="406400"/>
          </a:xfrm>
        </p:grpSpPr>
        <p:sp>
          <p:nvSpPr>
            <p:cNvPr id="10" name="Freeform 10"/>
            <p:cNvSpPr/>
            <p:nvPr/>
          </p:nvSpPr>
          <p:spPr>
            <a:xfrm>
              <a:off x="0" y="0"/>
              <a:ext cx="404756" cy="406400"/>
            </a:xfrm>
            <a:custGeom>
              <a:avLst/>
              <a:gdLst/>
              <a:ahLst/>
              <a:cxnLst/>
              <a:rect l="l" t="t" r="r" b="b"/>
              <a:pathLst>
                <a:path w="404756" h="406400">
                  <a:moveTo>
                    <a:pt x="73608" y="0"/>
                  </a:moveTo>
                  <a:lnTo>
                    <a:pt x="331148" y="0"/>
                  </a:lnTo>
                  <a:cubicBezTo>
                    <a:pt x="350671" y="0"/>
                    <a:pt x="369393" y="7755"/>
                    <a:pt x="383197" y="21559"/>
                  </a:cubicBezTo>
                  <a:cubicBezTo>
                    <a:pt x="397001" y="35363"/>
                    <a:pt x="404756" y="54086"/>
                    <a:pt x="404756" y="73608"/>
                  </a:cubicBezTo>
                  <a:lnTo>
                    <a:pt x="404756" y="332792"/>
                  </a:lnTo>
                  <a:cubicBezTo>
                    <a:pt x="404756" y="352314"/>
                    <a:pt x="397001" y="371037"/>
                    <a:pt x="383197" y="384841"/>
                  </a:cubicBezTo>
                  <a:cubicBezTo>
                    <a:pt x="369393" y="398645"/>
                    <a:pt x="350671" y="406400"/>
                    <a:pt x="331148" y="406400"/>
                  </a:cubicBezTo>
                  <a:lnTo>
                    <a:pt x="73608" y="406400"/>
                  </a:lnTo>
                  <a:cubicBezTo>
                    <a:pt x="54086" y="406400"/>
                    <a:pt x="35363" y="398645"/>
                    <a:pt x="21559" y="384841"/>
                  </a:cubicBezTo>
                  <a:cubicBezTo>
                    <a:pt x="7755" y="371037"/>
                    <a:pt x="0" y="352314"/>
                    <a:pt x="0" y="332792"/>
                  </a:cubicBezTo>
                  <a:lnTo>
                    <a:pt x="0" y="73608"/>
                  </a:lnTo>
                  <a:cubicBezTo>
                    <a:pt x="0" y="54086"/>
                    <a:pt x="7755" y="35363"/>
                    <a:pt x="21559" y="21559"/>
                  </a:cubicBezTo>
                  <a:cubicBezTo>
                    <a:pt x="35363" y="7755"/>
                    <a:pt x="54086" y="0"/>
                    <a:pt x="73608" y="0"/>
                  </a:cubicBezTo>
                  <a:close/>
                </a:path>
              </a:pathLst>
            </a:custGeom>
            <a:blipFill>
              <a:blip r:embed="rId6"/>
              <a:stretch>
                <a:fillRect l="-203" r="-203"/>
              </a:stretch>
            </a:blipFill>
          </p:spPr>
        </p:sp>
      </p:grpSp>
      <p:grpSp>
        <p:nvGrpSpPr>
          <p:cNvPr id="11" name="Group 11"/>
          <p:cNvGrpSpPr/>
          <p:nvPr/>
        </p:nvGrpSpPr>
        <p:grpSpPr>
          <a:xfrm>
            <a:off x="16249070" y="4638385"/>
            <a:ext cx="1010230" cy="10102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3" name="TextBox 13"/>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4" name="Group 14"/>
          <p:cNvGrpSpPr/>
          <p:nvPr/>
        </p:nvGrpSpPr>
        <p:grpSpPr>
          <a:xfrm>
            <a:off x="16381397" y="6183699"/>
            <a:ext cx="745577" cy="74557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6" name="TextBox 16"/>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7" name="Group 17"/>
          <p:cNvGrpSpPr/>
          <p:nvPr/>
        </p:nvGrpSpPr>
        <p:grpSpPr>
          <a:xfrm>
            <a:off x="16381397" y="3357724"/>
            <a:ext cx="745577" cy="74557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9" name="TextBox 19"/>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20" name="TextBox 20"/>
          <p:cNvSpPr txBox="1"/>
          <p:nvPr/>
        </p:nvSpPr>
        <p:spPr>
          <a:xfrm>
            <a:off x="379322" y="1931061"/>
            <a:ext cx="7955116" cy="1942465"/>
          </a:xfrm>
          <a:prstGeom prst="rect">
            <a:avLst/>
          </a:prstGeom>
        </p:spPr>
        <p:txBody>
          <a:bodyPr lIns="0" tIns="0" rIns="0" bIns="0" rtlCol="0" anchor="t">
            <a:spAutoFit/>
          </a:bodyPr>
          <a:lstStyle/>
          <a:p>
            <a:pPr algn="l">
              <a:lnSpc>
                <a:spcPts val="7279"/>
              </a:lnSpc>
            </a:pPr>
            <a:r>
              <a:rPr lang="en-US" sz="6999" b="1">
                <a:solidFill>
                  <a:srgbClr val="FFFFFF"/>
                </a:solidFill>
                <a:latin typeface="Poppins Bold"/>
                <a:ea typeface="Poppins Bold"/>
                <a:cs typeface="Poppins Bold"/>
                <a:sym typeface="Poppins Bold"/>
              </a:rPr>
              <a:t>Introduction to Parle Company </a:t>
            </a:r>
          </a:p>
        </p:txBody>
      </p:sp>
      <p:sp>
        <p:nvSpPr>
          <p:cNvPr id="21" name="TextBox 21"/>
          <p:cNvSpPr txBox="1"/>
          <p:nvPr/>
        </p:nvSpPr>
        <p:spPr>
          <a:xfrm>
            <a:off x="379322" y="4046911"/>
            <a:ext cx="9646168" cy="3475622"/>
          </a:xfrm>
          <a:prstGeom prst="rect">
            <a:avLst/>
          </a:prstGeom>
        </p:spPr>
        <p:txBody>
          <a:bodyPr lIns="0" tIns="0" rIns="0" bIns="0" rtlCol="0" anchor="t">
            <a:spAutoFit/>
          </a:bodyPr>
          <a:lstStyle/>
          <a:p>
            <a:pPr algn="just">
              <a:lnSpc>
                <a:spcPts val="4616"/>
              </a:lnSpc>
            </a:pPr>
            <a:r>
              <a:rPr lang="en-US" sz="2715" b="1">
                <a:solidFill>
                  <a:srgbClr val="FFFFFF"/>
                </a:solidFill>
                <a:latin typeface="Poppins Bold"/>
                <a:ea typeface="Poppins Bold"/>
                <a:cs typeface="Poppins Bold"/>
                <a:sym typeface="Poppins Bold"/>
              </a:rPr>
              <a:t>Founded</a:t>
            </a:r>
            <a:r>
              <a:rPr lang="en-US" sz="2715">
                <a:solidFill>
                  <a:srgbClr val="FFFFFF"/>
                </a:solidFill>
                <a:latin typeface="Poppins"/>
                <a:ea typeface="Poppins"/>
                <a:cs typeface="Poppins"/>
                <a:sym typeface="Poppins"/>
              </a:rPr>
              <a:t> : 1929 Mohan lal Dayal in Mumbai</a:t>
            </a:r>
          </a:p>
          <a:p>
            <a:pPr algn="just">
              <a:lnSpc>
                <a:spcPts val="4616"/>
              </a:lnSpc>
            </a:pPr>
            <a:r>
              <a:rPr lang="en-US" sz="2715" b="1">
                <a:solidFill>
                  <a:srgbClr val="FFFFFF"/>
                </a:solidFill>
                <a:latin typeface="Poppins Bold"/>
                <a:ea typeface="Poppins Bold"/>
                <a:cs typeface="Poppins Bold"/>
                <a:sym typeface="Poppins Bold"/>
              </a:rPr>
              <a:t>Main Business</a:t>
            </a:r>
            <a:r>
              <a:rPr lang="en-US" sz="2715">
                <a:solidFill>
                  <a:srgbClr val="FFFFFF"/>
                </a:solidFill>
                <a:latin typeface="Poppins"/>
                <a:ea typeface="Poppins"/>
                <a:cs typeface="Poppins"/>
                <a:sym typeface="Poppins"/>
              </a:rPr>
              <a:t>: Biscuits,Confectionery &amp; Snacks</a:t>
            </a:r>
          </a:p>
          <a:p>
            <a:pPr algn="just">
              <a:lnSpc>
                <a:spcPts val="4616"/>
              </a:lnSpc>
            </a:pPr>
            <a:r>
              <a:rPr lang="en-US" sz="2715" b="1">
                <a:solidFill>
                  <a:srgbClr val="FFFFFF"/>
                </a:solidFill>
                <a:latin typeface="Poppins Bold"/>
                <a:ea typeface="Poppins Bold"/>
                <a:cs typeface="Poppins Bold"/>
                <a:sym typeface="Poppins Bold"/>
              </a:rPr>
              <a:t>Flagship share</a:t>
            </a:r>
            <a:r>
              <a:rPr lang="en-US" sz="2715">
                <a:solidFill>
                  <a:srgbClr val="FFFFFF"/>
                </a:solidFill>
                <a:latin typeface="Poppins"/>
                <a:ea typeface="Poppins"/>
                <a:cs typeface="Poppins"/>
                <a:sym typeface="Poppins"/>
              </a:rPr>
              <a:t>: Parle-G(World’s largest selling biscuit)</a:t>
            </a:r>
          </a:p>
          <a:p>
            <a:pPr algn="just">
              <a:lnSpc>
                <a:spcPts val="4616"/>
              </a:lnSpc>
            </a:pPr>
            <a:r>
              <a:rPr lang="en-US" sz="2715" b="1">
                <a:solidFill>
                  <a:srgbClr val="FFFFFF"/>
                </a:solidFill>
                <a:latin typeface="Poppins Bold"/>
                <a:ea typeface="Poppins Bold"/>
                <a:cs typeface="Poppins Bold"/>
                <a:sym typeface="Poppins Bold"/>
              </a:rPr>
              <a:t>Market Share</a:t>
            </a:r>
            <a:r>
              <a:rPr lang="en-US" sz="2715">
                <a:solidFill>
                  <a:srgbClr val="FFFFFF"/>
                </a:solidFill>
                <a:latin typeface="Poppins"/>
                <a:ea typeface="Poppins"/>
                <a:cs typeface="Poppins"/>
                <a:sym typeface="Poppins"/>
              </a:rPr>
              <a:t> : 40% of India’s Biscuit Market </a:t>
            </a:r>
          </a:p>
          <a:p>
            <a:pPr algn="just">
              <a:lnSpc>
                <a:spcPts val="4616"/>
              </a:lnSpc>
            </a:pPr>
            <a:endParaRPr lang="en-US" sz="2715">
              <a:solidFill>
                <a:srgbClr val="FFFFFF"/>
              </a:solidFill>
              <a:latin typeface="Poppins"/>
              <a:ea typeface="Poppins"/>
              <a:cs typeface="Poppins"/>
              <a:sym typeface="Poppins"/>
            </a:endParaRPr>
          </a:p>
          <a:p>
            <a:pPr algn="just">
              <a:lnSpc>
                <a:spcPts val="4616"/>
              </a:lnSpc>
            </a:pPr>
            <a:endParaRPr lang="en-US" sz="2715">
              <a:solidFill>
                <a:srgbClr val="FFFFFF"/>
              </a:solidFill>
              <a:latin typeface="Poppins"/>
              <a:ea typeface="Poppins"/>
              <a:cs typeface="Poppins"/>
              <a:sym typeface="Poppins"/>
            </a:endParaRPr>
          </a:p>
        </p:txBody>
      </p:sp>
      <p:sp>
        <p:nvSpPr>
          <p:cNvPr id="22" name="TextBox 22"/>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sp>
        <p:nvSpPr>
          <p:cNvPr id="23" name="TextBox 23"/>
          <p:cNvSpPr txBox="1"/>
          <p:nvPr/>
        </p:nvSpPr>
        <p:spPr>
          <a:xfrm>
            <a:off x="16381397" y="6429483"/>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sp>
        <p:nvSpPr>
          <p:cNvPr id="24" name="TextBox 24"/>
          <p:cNvSpPr txBox="1"/>
          <p:nvPr/>
        </p:nvSpPr>
        <p:spPr>
          <a:xfrm>
            <a:off x="16381397" y="3603508"/>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9344934" y="2148632"/>
            <a:ext cx="7406604" cy="4553911"/>
            <a:chOff x="0" y="0"/>
            <a:chExt cx="1113274" cy="684491"/>
          </a:xfrm>
        </p:grpSpPr>
        <p:sp>
          <p:nvSpPr>
            <p:cNvPr id="4" name="Freeform 4"/>
            <p:cNvSpPr/>
            <p:nvPr/>
          </p:nvSpPr>
          <p:spPr>
            <a:xfrm>
              <a:off x="0" y="0"/>
              <a:ext cx="1113274" cy="684491"/>
            </a:xfrm>
            <a:custGeom>
              <a:avLst/>
              <a:gdLst/>
              <a:ahLst/>
              <a:cxnLst/>
              <a:rect l="l" t="t" r="r" b="b"/>
              <a:pathLst>
                <a:path w="1113274" h="684491">
                  <a:moveTo>
                    <a:pt x="24041" y="0"/>
                  </a:moveTo>
                  <a:lnTo>
                    <a:pt x="1089233" y="0"/>
                  </a:lnTo>
                  <a:cubicBezTo>
                    <a:pt x="1102511" y="0"/>
                    <a:pt x="1113274" y="10764"/>
                    <a:pt x="1113274" y="24041"/>
                  </a:cubicBezTo>
                  <a:lnTo>
                    <a:pt x="1113274" y="660449"/>
                  </a:lnTo>
                  <a:cubicBezTo>
                    <a:pt x="1113274" y="673727"/>
                    <a:pt x="1102511" y="684491"/>
                    <a:pt x="1089233" y="684491"/>
                  </a:cubicBezTo>
                  <a:lnTo>
                    <a:pt x="24041" y="684491"/>
                  </a:lnTo>
                  <a:cubicBezTo>
                    <a:pt x="10764" y="684491"/>
                    <a:pt x="0" y="673727"/>
                    <a:pt x="0" y="660449"/>
                  </a:cubicBezTo>
                  <a:lnTo>
                    <a:pt x="0" y="24041"/>
                  </a:lnTo>
                  <a:cubicBezTo>
                    <a:pt x="0" y="10764"/>
                    <a:pt x="10764" y="0"/>
                    <a:pt x="24041" y="0"/>
                  </a:cubicBezTo>
                  <a:close/>
                </a:path>
              </a:pathLst>
            </a:custGeom>
            <a:blipFill>
              <a:blip r:embed="rId4"/>
              <a:stretch>
                <a:fillRect l="-4652" r="-4652"/>
              </a:stretch>
            </a:blipFill>
          </p:spPr>
        </p:sp>
      </p:grpSp>
      <p:grpSp>
        <p:nvGrpSpPr>
          <p:cNvPr id="5" name="Group 5"/>
          <p:cNvGrpSpPr/>
          <p:nvPr/>
        </p:nvGrpSpPr>
        <p:grpSpPr>
          <a:xfrm>
            <a:off x="16249070" y="4638385"/>
            <a:ext cx="1010230" cy="101023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8" name="Group 8"/>
          <p:cNvGrpSpPr/>
          <p:nvPr/>
        </p:nvGrpSpPr>
        <p:grpSpPr>
          <a:xfrm>
            <a:off x="16381397" y="6183699"/>
            <a:ext cx="745577" cy="74557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0" name="TextBox 10"/>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1" name="Group 11"/>
          <p:cNvGrpSpPr/>
          <p:nvPr/>
        </p:nvGrpSpPr>
        <p:grpSpPr>
          <a:xfrm>
            <a:off x="16381397" y="3357724"/>
            <a:ext cx="745577" cy="74557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3" name="TextBox 13"/>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14" name="Freeform 14"/>
          <p:cNvSpPr/>
          <p:nvPr/>
        </p:nvSpPr>
        <p:spPr>
          <a:xfrm rot="1184083">
            <a:off x="11564967" y="-3218375"/>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5">
              <a:alphaModFix amt="19999"/>
            </a:blip>
            <a:stretch>
              <a:fillRect/>
            </a:stretch>
          </a:blipFill>
        </p:spPr>
      </p:sp>
      <p:sp>
        <p:nvSpPr>
          <p:cNvPr id="15" name="TextBox 15"/>
          <p:cNvSpPr txBox="1"/>
          <p:nvPr/>
        </p:nvSpPr>
        <p:spPr>
          <a:xfrm>
            <a:off x="608968" y="1130125"/>
            <a:ext cx="6856090" cy="1018507"/>
          </a:xfrm>
          <a:prstGeom prst="rect">
            <a:avLst/>
          </a:prstGeom>
        </p:spPr>
        <p:txBody>
          <a:bodyPr lIns="0" tIns="0" rIns="0" bIns="0" rtlCol="0" anchor="t">
            <a:spAutoFit/>
          </a:bodyPr>
          <a:lstStyle/>
          <a:p>
            <a:pPr algn="l">
              <a:lnSpc>
                <a:spcPts val="7279"/>
              </a:lnSpc>
            </a:pPr>
            <a:r>
              <a:rPr lang="en-US" sz="6999" b="1">
                <a:solidFill>
                  <a:srgbClr val="FFFFFF"/>
                </a:solidFill>
                <a:latin typeface="Poppins Bold"/>
                <a:ea typeface="Poppins Bold"/>
                <a:cs typeface="Poppins Bold"/>
                <a:sym typeface="Poppins Bold"/>
              </a:rPr>
              <a:t>The History</a:t>
            </a:r>
          </a:p>
        </p:txBody>
      </p:sp>
      <p:sp>
        <p:nvSpPr>
          <p:cNvPr id="16" name="TextBox 16"/>
          <p:cNvSpPr txBox="1"/>
          <p:nvPr/>
        </p:nvSpPr>
        <p:spPr>
          <a:xfrm>
            <a:off x="824117" y="2265955"/>
            <a:ext cx="7898870" cy="6134100"/>
          </a:xfrm>
          <a:prstGeom prst="rect">
            <a:avLst/>
          </a:prstGeom>
        </p:spPr>
        <p:txBody>
          <a:bodyPr lIns="0" tIns="0" rIns="0" bIns="0" rtlCol="0" anchor="t">
            <a:spAutoFit/>
          </a:bodyPr>
          <a:lstStyle/>
          <a:p>
            <a:pPr algn="just">
              <a:lnSpc>
                <a:spcPts val="4079"/>
              </a:lnSpc>
            </a:pPr>
            <a:r>
              <a:rPr lang="en-US" sz="2399">
                <a:solidFill>
                  <a:srgbClr val="F4F4F4"/>
                </a:solidFill>
                <a:latin typeface="Tex Gyre Bonum"/>
                <a:ea typeface="Tex Gyre Bonum"/>
                <a:cs typeface="Tex Gyre Bonum"/>
                <a:sym typeface="Tex Gyre Bonum"/>
              </a:rPr>
              <a:t>Parle was founded in 1929 in Mumbai by Mohanlal Dayal Chauhan. It began as a small confectionery producing sweets and toffees. In 1939, Parle launched its most iconic product, Parle-G biscuits, which later became one of India’s largest-selling biscuit brands. Over the decades, Parle expanded into snacks, beverages, and confectionery. In 1980s, the company split into three independent units—Parle Products, Parle Agro, and Parle Bisleri—run by different parts of the Chauhan family. Today, Parle Products continues to be a major leader in India’s biscuit and confectionery market.</a:t>
            </a:r>
          </a:p>
        </p:txBody>
      </p:sp>
      <p:sp>
        <p:nvSpPr>
          <p:cNvPr id="17" name="TextBox 17"/>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sp>
        <p:nvSpPr>
          <p:cNvPr id="18" name="TextBox 18"/>
          <p:cNvSpPr txBox="1"/>
          <p:nvPr/>
        </p:nvSpPr>
        <p:spPr>
          <a:xfrm>
            <a:off x="16381397" y="6429483"/>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sp>
        <p:nvSpPr>
          <p:cNvPr id="19" name="TextBox 19"/>
          <p:cNvSpPr txBox="1"/>
          <p:nvPr/>
        </p:nvSpPr>
        <p:spPr>
          <a:xfrm>
            <a:off x="16381397" y="3603508"/>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184083">
            <a:off x="1691341" y="-1403373"/>
            <a:ext cx="5755537" cy="6731622"/>
          </a:xfrm>
          <a:custGeom>
            <a:avLst/>
            <a:gdLst/>
            <a:ahLst/>
            <a:cxnLst/>
            <a:rect l="l" t="t" r="r" b="b"/>
            <a:pathLst>
              <a:path w="5755537" h="6731622">
                <a:moveTo>
                  <a:pt x="0" y="0"/>
                </a:moveTo>
                <a:lnTo>
                  <a:pt x="5755537" y="0"/>
                </a:lnTo>
                <a:lnTo>
                  <a:pt x="5755537" y="6731622"/>
                </a:lnTo>
                <a:lnTo>
                  <a:pt x="0" y="6731622"/>
                </a:lnTo>
                <a:lnTo>
                  <a:pt x="0" y="0"/>
                </a:lnTo>
                <a:close/>
              </a:path>
            </a:pathLst>
          </a:custGeom>
          <a:blipFill>
            <a:blip r:embed="rId4">
              <a:alphaModFix amt="19999"/>
            </a:blip>
            <a:stretch>
              <a:fillRect/>
            </a:stretch>
          </a:blipFill>
        </p:spPr>
      </p:sp>
      <p:grpSp>
        <p:nvGrpSpPr>
          <p:cNvPr id="4" name="Group 4"/>
          <p:cNvGrpSpPr/>
          <p:nvPr/>
        </p:nvGrpSpPr>
        <p:grpSpPr>
          <a:xfrm>
            <a:off x="13392735" y="342005"/>
            <a:ext cx="4451303" cy="3171125"/>
            <a:chOff x="0" y="0"/>
            <a:chExt cx="689623" cy="491290"/>
          </a:xfrm>
        </p:grpSpPr>
        <p:sp>
          <p:nvSpPr>
            <p:cNvPr id="5" name="Freeform 5"/>
            <p:cNvSpPr/>
            <p:nvPr/>
          </p:nvSpPr>
          <p:spPr>
            <a:xfrm>
              <a:off x="0" y="0"/>
              <a:ext cx="689623" cy="491290"/>
            </a:xfrm>
            <a:custGeom>
              <a:avLst/>
              <a:gdLst/>
              <a:ahLst/>
              <a:cxnLst/>
              <a:rect l="l" t="t" r="r" b="b"/>
              <a:pathLst>
                <a:path w="689623" h="491290">
                  <a:moveTo>
                    <a:pt x="40003" y="0"/>
                  </a:moveTo>
                  <a:lnTo>
                    <a:pt x="649621" y="0"/>
                  </a:lnTo>
                  <a:cubicBezTo>
                    <a:pt x="671713" y="0"/>
                    <a:pt x="689623" y="17910"/>
                    <a:pt x="689623" y="40003"/>
                  </a:cubicBezTo>
                  <a:lnTo>
                    <a:pt x="689623" y="451288"/>
                  </a:lnTo>
                  <a:cubicBezTo>
                    <a:pt x="689623" y="461897"/>
                    <a:pt x="685409" y="472072"/>
                    <a:pt x="677907" y="479574"/>
                  </a:cubicBezTo>
                  <a:cubicBezTo>
                    <a:pt x="670405" y="487076"/>
                    <a:pt x="660230" y="491290"/>
                    <a:pt x="649621" y="491290"/>
                  </a:cubicBezTo>
                  <a:lnTo>
                    <a:pt x="40003" y="491290"/>
                  </a:lnTo>
                  <a:cubicBezTo>
                    <a:pt x="29393" y="491290"/>
                    <a:pt x="19218" y="487076"/>
                    <a:pt x="11717" y="479574"/>
                  </a:cubicBezTo>
                  <a:cubicBezTo>
                    <a:pt x="4215" y="472072"/>
                    <a:pt x="0" y="461897"/>
                    <a:pt x="0" y="451288"/>
                  </a:cubicBezTo>
                  <a:lnTo>
                    <a:pt x="0" y="40003"/>
                  </a:lnTo>
                  <a:cubicBezTo>
                    <a:pt x="0" y="29393"/>
                    <a:pt x="4215" y="19218"/>
                    <a:pt x="11717" y="11717"/>
                  </a:cubicBezTo>
                  <a:cubicBezTo>
                    <a:pt x="19218" y="4215"/>
                    <a:pt x="29393" y="0"/>
                    <a:pt x="40003" y="0"/>
                  </a:cubicBezTo>
                  <a:close/>
                </a:path>
              </a:pathLst>
            </a:custGeom>
            <a:blipFill>
              <a:blip r:embed="rId5"/>
              <a:stretch>
                <a:fillRect l="-10245" r="-10245"/>
              </a:stretch>
            </a:blipFill>
          </p:spPr>
        </p:sp>
      </p:grpSp>
      <p:sp>
        <p:nvSpPr>
          <p:cNvPr id="6" name="Freeform 6"/>
          <p:cNvSpPr/>
          <p:nvPr/>
        </p:nvSpPr>
        <p:spPr>
          <a:xfrm>
            <a:off x="250591" y="3548000"/>
            <a:ext cx="12079893" cy="6484253"/>
          </a:xfrm>
          <a:custGeom>
            <a:avLst/>
            <a:gdLst/>
            <a:ahLst/>
            <a:cxnLst/>
            <a:rect l="l" t="t" r="r" b="b"/>
            <a:pathLst>
              <a:path w="12079893" h="6484253">
                <a:moveTo>
                  <a:pt x="0" y="0"/>
                </a:moveTo>
                <a:lnTo>
                  <a:pt x="12079894" y="0"/>
                </a:lnTo>
                <a:lnTo>
                  <a:pt x="12079894" y="6484253"/>
                </a:lnTo>
                <a:lnTo>
                  <a:pt x="0" y="6484253"/>
                </a:lnTo>
                <a:lnTo>
                  <a:pt x="0" y="0"/>
                </a:lnTo>
                <a:close/>
              </a:path>
            </a:pathLst>
          </a:custGeom>
          <a:blipFill>
            <a:blip r:embed="rId6"/>
            <a:stretch>
              <a:fillRect l="-10378" r="-3627"/>
            </a:stretch>
          </a:blipFill>
        </p:spPr>
      </p:sp>
      <p:sp>
        <p:nvSpPr>
          <p:cNvPr id="7" name="TextBox 7"/>
          <p:cNvSpPr txBox="1"/>
          <p:nvPr/>
        </p:nvSpPr>
        <p:spPr>
          <a:xfrm>
            <a:off x="250591" y="587559"/>
            <a:ext cx="8205832" cy="1942465"/>
          </a:xfrm>
          <a:prstGeom prst="rect">
            <a:avLst/>
          </a:prstGeom>
        </p:spPr>
        <p:txBody>
          <a:bodyPr lIns="0" tIns="0" rIns="0" bIns="0" rtlCol="0" anchor="t">
            <a:spAutoFit/>
          </a:bodyPr>
          <a:lstStyle/>
          <a:p>
            <a:pPr algn="l">
              <a:lnSpc>
                <a:spcPts val="7279"/>
              </a:lnSpc>
            </a:pPr>
            <a:r>
              <a:rPr lang="en-US" sz="6999" b="1">
                <a:solidFill>
                  <a:srgbClr val="FFFFFF"/>
                </a:solidFill>
                <a:latin typeface="Poppins Bold"/>
                <a:ea typeface="Poppins Bold"/>
                <a:cs typeface="Poppins Bold"/>
                <a:sym typeface="Poppins Bold"/>
              </a:rPr>
              <a:t>Sales &amp; Revenue Trend </a:t>
            </a:r>
          </a:p>
        </p:txBody>
      </p:sp>
      <p:sp>
        <p:nvSpPr>
          <p:cNvPr id="8" name="TextBox 8"/>
          <p:cNvSpPr txBox="1"/>
          <p:nvPr/>
        </p:nvSpPr>
        <p:spPr>
          <a:xfrm>
            <a:off x="15673258" y="5962903"/>
            <a:ext cx="47625" cy="288290"/>
          </a:xfrm>
          <a:prstGeom prst="rect">
            <a:avLst/>
          </a:prstGeom>
        </p:spPr>
        <p:txBody>
          <a:bodyPr lIns="0" tIns="0" rIns="0" bIns="0" rtlCol="0" anchor="t">
            <a:spAutoFit/>
          </a:bodyPr>
          <a:lstStyle/>
          <a:p>
            <a:pPr algn="ctr">
              <a:lnSpc>
                <a:spcPts val="2080"/>
              </a:lnSpc>
              <a:spcBef>
                <a:spcPct val="0"/>
              </a:spcBef>
            </a:pPr>
            <a:endParaRPr/>
          </a:p>
        </p:txBody>
      </p:sp>
      <p:sp>
        <p:nvSpPr>
          <p:cNvPr id="9" name="TextBox 9"/>
          <p:cNvSpPr txBox="1"/>
          <p:nvPr/>
        </p:nvSpPr>
        <p:spPr>
          <a:xfrm>
            <a:off x="12617944" y="3890482"/>
            <a:ext cx="5188371" cy="1714118"/>
          </a:xfrm>
          <a:prstGeom prst="rect">
            <a:avLst/>
          </a:prstGeom>
        </p:spPr>
        <p:txBody>
          <a:bodyPr lIns="0" tIns="0" rIns="0" bIns="0" rtlCol="0" anchor="t">
            <a:spAutoFit/>
          </a:bodyPr>
          <a:lstStyle/>
          <a:p>
            <a:pPr algn="ctr">
              <a:lnSpc>
                <a:spcPts val="4367"/>
              </a:lnSpc>
            </a:pPr>
            <a:r>
              <a:rPr lang="en-US" sz="4199" b="1">
                <a:solidFill>
                  <a:srgbClr val="004AAD"/>
                </a:solidFill>
                <a:latin typeface="Poppins Bold"/>
                <a:ea typeface="Poppins Bold"/>
                <a:cs typeface="Poppins Bold"/>
                <a:sym typeface="Poppins Bold"/>
              </a:rPr>
              <a:t> 15,086</a:t>
            </a:r>
          </a:p>
          <a:p>
            <a:pPr algn="ctr">
              <a:lnSpc>
                <a:spcPts val="4367"/>
              </a:lnSpc>
              <a:spcBef>
                <a:spcPct val="0"/>
              </a:spcBef>
            </a:pPr>
            <a:r>
              <a:rPr lang="en-US" sz="4199" b="1">
                <a:solidFill>
                  <a:srgbClr val="FEFEFE"/>
                </a:solidFill>
                <a:latin typeface="Poppins Bold"/>
                <a:ea typeface="Poppins Bold"/>
                <a:cs typeface="Poppins Bold"/>
                <a:sym typeface="Poppins Bold"/>
              </a:rPr>
              <a:t>Total        Revenue(crore)</a:t>
            </a:r>
          </a:p>
        </p:txBody>
      </p:sp>
      <p:sp>
        <p:nvSpPr>
          <p:cNvPr id="10" name="TextBox 10"/>
          <p:cNvSpPr txBox="1"/>
          <p:nvPr/>
        </p:nvSpPr>
        <p:spPr>
          <a:xfrm>
            <a:off x="12693389" y="5991478"/>
            <a:ext cx="5112926" cy="1255387"/>
          </a:xfrm>
          <a:prstGeom prst="rect">
            <a:avLst/>
          </a:prstGeom>
        </p:spPr>
        <p:txBody>
          <a:bodyPr lIns="0" tIns="0" rIns="0" bIns="0" rtlCol="0" anchor="t">
            <a:spAutoFit/>
          </a:bodyPr>
          <a:lstStyle/>
          <a:p>
            <a:pPr algn="ctr">
              <a:lnSpc>
                <a:spcPts val="4772"/>
              </a:lnSpc>
            </a:pPr>
            <a:r>
              <a:rPr lang="en-US" sz="4588" b="1">
                <a:solidFill>
                  <a:srgbClr val="004AAD"/>
                </a:solidFill>
                <a:latin typeface="Poppins Bold"/>
                <a:ea typeface="Poppins Bold"/>
                <a:cs typeface="Poppins Bold"/>
                <a:sym typeface="Poppins Bold"/>
              </a:rPr>
              <a:t>1,607</a:t>
            </a:r>
          </a:p>
          <a:p>
            <a:pPr algn="ctr">
              <a:lnSpc>
                <a:spcPts val="4772"/>
              </a:lnSpc>
              <a:spcBef>
                <a:spcPct val="0"/>
              </a:spcBef>
            </a:pPr>
            <a:r>
              <a:rPr lang="en-US" sz="4588" b="1">
                <a:solidFill>
                  <a:srgbClr val="FFFFFF"/>
                </a:solidFill>
                <a:latin typeface="Poppins Bold"/>
                <a:ea typeface="Poppins Bold"/>
                <a:cs typeface="Poppins Bold"/>
                <a:sym typeface="Poppins Bold"/>
              </a:rPr>
              <a:t>Net Profit (Crore</a:t>
            </a:r>
            <a:r>
              <a:rPr lang="en-US" sz="4588" b="1">
                <a:solidFill>
                  <a:srgbClr val="000000"/>
                </a:solidFill>
                <a:latin typeface="Poppins Bold"/>
                <a:ea typeface="Poppins Bold"/>
                <a:cs typeface="Poppins Bold"/>
                <a:sym typeface="Poppins Bold"/>
              </a:rPr>
              <a:t>)</a:t>
            </a:r>
          </a:p>
        </p:txBody>
      </p:sp>
      <p:sp>
        <p:nvSpPr>
          <p:cNvPr id="11" name="TextBox 11"/>
          <p:cNvSpPr txBox="1"/>
          <p:nvPr/>
        </p:nvSpPr>
        <p:spPr>
          <a:xfrm>
            <a:off x="12617944" y="7618340"/>
            <a:ext cx="5188371" cy="1109979"/>
          </a:xfrm>
          <a:prstGeom prst="rect">
            <a:avLst/>
          </a:prstGeom>
        </p:spPr>
        <p:txBody>
          <a:bodyPr lIns="0" tIns="0" rIns="0" bIns="0" rtlCol="0" anchor="t">
            <a:spAutoFit/>
          </a:bodyPr>
          <a:lstStyle/>
          <a:p>
            <a:pPr algn="ctr">
              <a:lnSpc>
                <a:spcPts val="4159"/>
              </a:lnSpc>
            </a:pPr>
            <a:r>
              <a:rPr lang="en-US" sz="3999" b="1">
                <a:solidFill>
                  <a:srgbClr val="004AAD"/>
                </a:solidFill>
                <a:latin typeface="Poppins Bold"/>
                <a:ea typeface="Poppins Bold"/>
                <a:cs typeface="Poppins Bold"/>
                <a:sym typeface="Poppins Bold"/>
              </a:rPr>
              <a:t>+2%</a:t>
            </a:r>
          </a:p>
          <a:p>
            <a:pPr algn="ctr">
              <a:lnSpc>
                <a:spcPts val="4159"/>
              </a:lnSpc>
              <a:spcBef>
                <a:spcPct val="0"/>
              </a:spcBef>
            </a:pPr>
            <a:r>
              <a:rPr lang="en-US" sz="3999" b="1">
                <a:solidFill>
                  <a:srgbClr val="FFFFFF"/>
                </a:solidFill>
                <a:latin typeface="Poppins Bold"/>
                <a:ea typeface="Poppins Bold"/>
                <a:cs typeface="Poppins Bold"/>
                <a:sym typeface="Poppins Bold"/>
              </a:rPr>
              <a:t>Revenue growth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184083">
            <a:off x="9690483" y="3011312"/>
            <a:ext cx="5755537" cy="6731622"/>
          </a:xfrm>
          <a:custGeom>
            <a:avLst/>
            <a:gdLst/>
            <a:ahLst/>
            <a:cxnLst/>
            <a:rect l="l" t="t" r="r" b="b"/>
            <a:pathLst>
              <a:path w="5755537" h="6731622">
                <a:moveTo>
                  <a:pt x="0" y="0"/>
                </a:moveTo>
                <a:lnTo>
                  <a:pt x="5755537" y="0"/>
                </a:lnTo>
                <a:lnTo>
                  <a:pt x="5755537" y="6731622"/>
                </a:lnTo>
                <a:lnTo>
                  <a:pt x="0" y="6731622"/>
                </a:lnTo>
                <a:lnTo>
                  <a:pt x="0" y="0"/>
                </a:lnTo>
                <a:close/>
              </a:path>
            </a:pathLst>
          </a:custGeom>
          <a:blipFill>
            <a:blip r:embed="rId4">
              <a:alphaModFix amt="19999"/>
            </a:blip>
            <a:stretch>
              <a:fillRect/>
            </a:stretch>
          </a:blipFill>
        </p:spPr>
      </p:sp>
      <p:grpSp>
        <p:nvGrpSpPr>
          <p:cNvPr id="4" name="Group 4"/>
          <p:cNvGrpSpPr/>
          <p:nvPr/>
        </p:nvGrpSpPr>
        <p:grpSpPr>
          <a:xfrm>
            <a:off x="12004815" y="3730512"/>
            <a:ext cx="3060168" cy="3060168"/>
            <a:chOff x="0" y="0"/>
            <a:chExt cx="1652976" cy="1652976"/>
          </a:xfrm>
        </p:grpSpPr>
        <p:sp>
          <p:nvSpPr>
            <p:cNvPr id="5" name="Freeform 5"/>
            <p:cNvSpPr/>
            <p:nvPr/>
          </p:nvSpPr>
          <p:spPr>
            <a:xfrm>
              <a:off x="0" y="0"/>
              <a:ext cx="1652976" cy="1652976"/>
            </a:xfrm>
            <a:custGeom>
              <a:avLst/>
              <a:gdLst/>
              <a:ahLst/>
              <a:cxnLst/>
              <a:rect l="l" t="t" r="r" b="b"/>
              <a:pathLst>
                <a:path w="1652976" h="1652976">
                  <a:moveTo>
                    <a:pt x="70759" y="0"/>
                  </a:moveTo>
                  <a:lnTo>
                    <a:pt x="1582218" y="0"/>
                  </a:lnTo>
                  <a:cubicBezTo>
                    <a:pt x="1621296" y="0"/>
                    <a:pt x="1652976" y="31680"/>
                    <a:pt x="1652976" y="70759"/>
                  </a:cubicBezTo>
                  <a:lnTo>
                    <a:pt x="1652976" y="1582218"/>
                  </a:lnTo>
                  <a:cubicBezTo>
                    <a:pt x="1652976" y="1621296"/>
                    <a:pt x="1621296" y="1652976"/>
                    <a:pt x="1582218" y="1652976"/>
                  </a:cubicBezTo>
                  <a:lnTo>
                    <a:pt x="70759" y="1652976"/>
                  </a:lnTo>
                  <a:cubicBezTo>
                    <a:pt x="31680" y="1652976"/>
                    <a:pt x="0" y="1621296"/>
                    <a:pt x="0" y="1582218"/>
                  </a:cubicBezTo>
                  <a:lnTo>
                    <a:pt x="0" y="70759"/>
                  </a:lnTo>
                  <a:cubicBezTo>
                    <a:pt x="0" y="31680"/>
                    <a:pt x="31680" y="0"/>
                    <a:pt x="70759"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6" name="TextBox 6"/>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104789" y="1780569"/>
            <a:ext cx="3516269" cy="3154310"/>
            <a:chOff x="0" y="0"/>
            <a:chExt cx="544762" cy="488685"/>
          </a:xfrm>
        </p:grpSpPr>
        <p:sp>
          <p:nvSpPr>
            <p:cNvPr id="8" name="Freeform 8"/>
            <p:cNvSpPr/>
            <p:nvPr/>
          </p:nvSpPr>
          <p:spPr>
            <a:xfrm>
              <a:off x="0" y="0"/>
              <a:ext cx="544762" cy="488685"/>
            </a:xfrm>
            <a:custGeom>
              <a:avLst/>
              <a:gdLst/>
              <a:ahLst/>
              <a:cxnLst/>
              <a:rect l="l" t="t" r="r" b="b"/>
              <a:pathLst>
                <a:path w="544762" h="488685">
                  <a:moveTo>
                    <a:pt x="50640" y="0"/>
                  </a:moveTo>
                  <a:lnTo>
                    <a:pt x="494122" y="0"/>
                  </a:lnTo>
                  <a:cubicBezTo>
                    <a:pt x="507553" y="0"/>
                    <a:pt x="520433" y="5335"/>
                    <a:pt x="529930" y="14832"/>
                  </a:cubicBezTo>
                  <a:cubicBezTo>
                    <a:pt x="539427" y="24329"/>
                    <a:pt x="544762" y="37210"/>
                    <a:pt x="544762" y="50640"/>
                  </a:cubicBezTo>
                  <a:lnTo>
                    <a:pt x="544762" y="438045"/>
                  </a:lnTo>
                  <a:cubicBezTo>
                    <a:pt x="544762" y="451476"/>
                    <a:pt x="539427" y="464356"/>
                    <a:pt x="529930" y="473853"/>
                  </a:cubicBezTo>
                  <a:cubicBezTo>
                    <a:pt x="520433" y="483350"/>
                    <a:pt x="507553" y="488685"/>
                    <a:pt x="494122" y="488685"/>
                  </a:cubicBezTo>
                  <a:lnTo>
                    <a:pt x="50640" y="488685"/>
                  </a:lnTo>
                  <a:cubicBezTo>
                    <a:pt x="37210" y="488685"/>
                    <a:pt x="24329" y="483350"/>
                    <a:pt x="14832" y="473853"/>
                  </a:cubicBezTo>
                  <a:cubicBezTo>
                    <a:pt x="5335" y="464356"/>
                    <a:pt x="0" y="451476"/>
                    <a:pt x="0" y="438045"/>
                  </a:cubicBezTo>
                  <a:lnTo>
                    <a:pt x="0" y="50640"/>
                  </a:lnTo>
                  <a:cubicBezTo>
                    <a:pt x="0" y="37210"/>
                    <a:pt x="5335" y="24329"/>
                    <a:pt x="14832" y="14832"/>
                  </a:cubicBezTo>
                  <a:cubicBezTo>
                    <a:pt x="24329" y="5335"/>
                    <a:pt x="37210" y="0"/>
                    <a:pt x="50640" y="0"/>
                  </a:cubicBezTo>
                  <a:close/>
                </a:path>
              </a:pathLst>
            </a:custGeom>
            <a:blipFill>
              <a:blip r:embed="rId5"/>
              <a:stretch>
                <a:fillRect l="-17279" r="-17279"/>
              </a:stretch>
            </a:blipFill>
          </p:spPr>
        </p:sp>
      </p:grpSp>
      <p:grpSp>
        <p:nvGrpSpPr>
          <p:cNvPr id="9" name="Group 9"/>
          <p:cNvGrpSpPr/>
          <p:nvPr/>
        </p:nvGrpSpPr>
        <p:grpSpPr>
          <a:xfrm>
            <a:off x="13910953" y="1780569"/>
            <a:ext cx="3653897" cy="3154310"/>
            <a:chOff x="0" y="0"/>
            <a:chExt cx="566084" cy="488685"/>
          </a:xfrm>
        </p:grpSpPr>
        <p:sp>
          <p:nvSpPr>
            <p:cNvPr id="10" name="Freeform 10"/>
            <p:cNvSpPr/>
            <p:nvPr/>
          </p:nvSpPr>
          <p:spPr>
            <a:xfrm>
              <a:off x="0" y="0"/>
              <a:ext cx="566084" cy="488685"/>
            </a:xfrm>
            <a:custGeom>
              <a:avLst/>
              <a:gdLst/>
              <a:ahLst/>
              <a:cxnLst/>
              <a:rect l="l" t="t" r="r" b="b"/>
              <a:pathLst>
                <a:path w="566084" h="488685">
                  <a:moveTo>
                    <a:pt x="48733" y="0"/>
                  </a:moveTo>
                  <a:lnTo>
                    <a:pt x="517352" y="0"/>
                  </a:lnTo>
                  <a:cubicBezTo>
                    <a:pt x="530276" y="0"/>
                    <a:pt x="542672" y="5134"/>
                    <a:pt x="551811" y="14273"/>
                  </a:cubicBezTo>
                  <a:cubicBezTo>
                    <a:pt x="560950" y="23413"/>
                    <a:pt x="566084" y="35808"/>
                    <a:pt x="566084" y="48733"/>
                  </a:cubicBezTo>
                  <a:lnTo>
                    <a:pt x="566084" y="439953"/>
                  </a:lnTo>
                  <a:cubicBezTo>
                    <a:pt x="566084" y="452877"/>
                    <a:pt x="560950" y="465273"/>
                    <a:pt x="551811" y="474412"/>
                  </a:cubicBezTo>
                  <a:cubicBezTo>
                    <a:pt x="542672" y="483551"/>
                    <a:pt x="530276" y="488685"/>
                    <a:pt x="517352" y="488685"/>
                  </a:cubicBezTo>
                  <a:lnTo>
                    <a:pt x="48733" y="488685"/>
                  </a:lnTo>
                  <a:cubicBezTo>
                    <a:pt x="35808" y="488685"/>
                    <a:pt x="23413" y="483551"/>
                    <a:pt x="14273" y="474412"/>
                  </a:cubicBezTo>
                  <a:cubicBezTo>
                    <a:pt x="5134" y="465273"/>
                    <a:pt x="0" y="452877"/>
                    <a:pt x="0" y="439953"/>
                  </a:cubicBezTo>
                  <a:lnTo>
                    <a:pt x="0" y="48733"/>
                  </a:lnTo>
                  <a:cubicBezTo>
                    <a:pt x="0" y="35808"/>
                    <a:pt x="5134" y="23413"/>
                    <a:pt x="14273" y="14273"/>
                  </a:cubicBezTo>
                  <a:cubicBezTo>
                    <a:pt x="23413" y="5134"/>
                    <a:pt x="35808" y="0"/>
                    <a:pt x="48733" y="0"/>
                  </a:cubicBezTo>
                  <a:close/>
                </a:path>
              </a:pathLst>
            </a:custGeom>
            <a:blipFill>
              <a:blip r:embed="rId6"/>
              <a:stretch>
                <a:fillRect t="-25371" b="-25371"/>
              </a:stretch>
            </a:blipFill>
          </p:spPr>
        </p:sp>
      </p:grpSp>
      <p:grpSp>
        <p:nvGrpSpPr>
          <p:cNvPr id="11" name="Group 11"/>
          <p:cNvGrpSpPr/>
          <p:nvPr/>
        </p:nvGrpSpPr>
        <p:grpSpPr>
          <a:xfrm>
            <a:off x="16249070" y="4638385"/>
            <a:ext cx="1010230" cy="10102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3" name="TextBox 13"/>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4" name="Group 14"/>
          <p:cNvGrpSpPr/>
          <p:nvPr/>
        </p:nvGrpSpPr>
        <p:grpSpPr>
          <a:xfrm>
            <a:off x="16381397" y="6183699"/>
            <a:ext cx="745577" cy="74557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6" name="TextBox 16"/>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7" name="Group 17"/>
          <p:cNvGrpSpPr/>
          <p:nvPr/>
        </p:nvGrpSpPr>
        <p:grpSpPr>
          <a:xfrm>
            <a:off x="16381397" y="3357724"/>
            <a:ext cx="745577" cy="74557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9" name="TextBox 19"/>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20" name="Freeform 20"/>
          <p:cNvSpPr/>
          <p:nvPr/>
        </p:nvSpPr>
        <p:spPr>
          <a:xfrm>
            <a:off x="288050" y="4418919"/>
            <a:ext cx="9526845" cy="5387355"/>
          </a:xfrm>
          <a:custGeom>
            <a:avLst/>
            <a:gdLst/>
            <a:ahLst/>
            <a:cxnLst/>
            <a:rect l="l" t="t" r="r" b="b"/>
            <a:pathLst>
              <a:path w="9526845" h="5387355">
                <a:moveTo>
                  <a:pt x="0" y="0"/>
                </a:moveTo>
                <a:lnTo>
                  <a:pt x="9526845" y="0"/>
                </a:lnTo>
                <a:lnTo>
                  <a:pt x="9526845" y="5387355"/>
                </a:lnTo>
                <a:lnTo>
                  <a:pt x="0" y="5387355"/>
                </a:lnTo>
                <a:lnTo>
                  <a:pt x="0" y="0"/>
                </a:lnTo>
                <a:close/>
              </a:path>
            </a:pathLst>
          </a:custGeom>
          <a:blipFill>
            <a:blip r:embed="rId7"/>
            <a:stretch>
              <a:fillRect l="-9602" r="-2560"/>
            </a:stretch>
          </a:blipFill>
        </p:spPr>
      </p:sp>
      <p:sp>
        <p:nvSpPr>
          <p:cNvPr id="21" name="Freeform 21"/>
          <p:cNvSpPr/>
          <p:nvPr/>
        </p:nvSpPr>
        <p:spPr>
          <a:xfrm>
            <a:off x="12004815" y="3933663"/>
            <a:ext cx="3178933" cy="3178933"/>
          </a:xfrm>
          <a:custGeom>
            <a:avLst/>
            <a:gdLst/>
            <a:ahLst/>
            <a:cxnLst/>
            <a:rect l="l" t="t" r="r" b="b"/>
            <a:pathLst>
              <a:path w="3178933" h="3178933">
                <a:moveTo>
                  <a:pt x="0" y="0"/>
                </a:moveTo>
                <a:lnTo>
                  <a:pt x="3178934" y="0"/>
                </a:lnTo>
                <a:lnTo>
                  <a:pt x="3178934" y="3178933"/>
                </a:lnTo>
                <a:lnTo>
                  <a:pt x="0" y="3178933"/>
                </a:lnTo>
                <a:lnTo>
                  <a:pt x="0" y="0"/>
                </a:lnTo>
                <a:close/>
              </a:path>
            </a:pathLst>
          </a:custGeom>
          <a:blipFill>
            <a:blip r:embed="rId8"/>
            <a:stretch>
              <a:fillRect/>
            </a:stretch>
          </a:blipFill>
        </p:spPr>
      </p:sp>
      <p:sp>
        <p:nvSpPr>
          <p:cNvPr id="22" name="TextBox 22"/>
          <p:cNvSpPr txBox="1"/>
          <p:nvPr/>
        </p:nvSpPr>
        <p:spPr>
          <a:xfrm>
            <a:off x="581014" y="543243"/>
            <a:ext cx="14546620" cy="1018540"/>
          </a:xfrm>
          <a:prstGeom prst="rect">
            <a:avLst/>
          </a:prstGeom>
        </p:spPr>
        <p:txBody>
          <a:bodyPr lIns="0" tIns="0" rIns="0" bIns="0" rtlCol="0" anchor="t">
            <a:spAutoFit/>
          </a:bodyPr>
          <a:lstStyle/>
          <a:p>
            <a:pPr algn="l">
              <a:lnSpc>
                <a:spcPts val="7279"/>
              </a:lnSpc>
            </a:pPr>
            <a:r>
              <a:rPr lang="en-US" sz="6999" b="1" u="sng">
                <a:solidFill>
                  <a:srgbClr val="FFFFFF"/>
                </a:solidFill>
                <a:latin typeface="Poppins Bold"/>
                <a:ea typeface="Poppins Bold"/>
                <a:cs typeface="Poppins Bold"/>
                <a:sym typeface="Poppins Bold"/>
              </a:rPr>
              <a:t>Different Branches &amp; Divisions </a:t>
            </a:r>
          </a:p>
        </p:txBody>
      </p:sp>
      <p:sp>
        <p:nvSpPr>
          <p:cNvPr id="23" name="TextBox 23"/>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sp>
        <p:nvSpPr>
          <p:cNvPr id="24" name="TextBox 24"/>
          <p:cNvSpPr txBox="1"/>
          <p:nvPr/>
        </p:nvSpPr>
        <p:spPr>
          <a:xfrm>
            <a:off x="16381397" y="6429483"/>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sp>
        <p:nvSpPr>
          <p:cNvPr id="25" name="TextBox 25"/>
          <p:cNvSpPr txBox="1"/>
          <p:nvPr/>
        </p:nvSpPr>
        <p:spPr>
          <a:xfrm>
            <a:off x="16381397" y="3603508"/>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0060202" y="3211669"/>
            <a:ext cx="3735173" cy="3344819"/>
            <a:chOff x="0" y="0"/>
            <a:chExt cx="2345671" cy="2100530"/>
          </a:xfrm>
        </p:grpSpPr>
        <p:sp>
          <p:nvSpPr>
            <p:cNvPr id="4" name="Freeform 4"/>
            <p:cNvSpPr/>
            <p:nvPr/>
          </p:nvSpPr>
          <p:spPr>
            <a:xfrm>
              <a:off x="0" y="0"/>
              <a:ext cx="2345671" cy="2100530"/>
            </a:xfrm>
            <a:custGeom>
              <a:avLst/>
              <a:gdLst/>
              <a:ahLst/>
              <a:cxnLst/>
              <a:rect l="l" t="t" r="r" b="b"/>
              <a:pathLst>
                <a:path w="2345671" h="2100530">
                  <a:moveTo>
                    <a:pt x="57971" y="0"/>
                  </a:moveTo>
                  <a:lnTo>
                    <a:pt x="2287699" y="0"/>
                  </a:lnTo>
                  <a:cubicBezTo>
                    <a:pt x="2319716" y="0"/>
                    <a:pt x="2345671" y="25955"/>
                    <a:pt x="2345671" y="57971"/>
                  </a:cubicBezTo>
                  <a:lnTo>
                    <a:pt x="2345671" y="2042559"/>
                  </a:lnTo>
                  <a:cubicBezTo>
                    <a:pt x="2345671" y="2074576"/>
                    <a:pt x="2319716" y="2100530"/>
                    <a:pt x="2287699" y="2100530"/>
                  </a:cubicBezTo>
                  <a:lnTo>
                    <a:pt x="57971" y="2100530"/>
                  </a:lnTo>
                  <a:cubicBezTo>
                    <a:pt x="25955" y="2100530"/>
                    <a:pt x="0" y="2074576"/>
                    <a:pt x="0" y="2042559"/>
                  </a:cubicBezTo>
                  <a:lnTo>
                    <a:pt x="0" y="57971"/>
                  </a:lnTo>
                  <a:cubicBezTo>
                    <a:pt x="0" y="25955"/>
                    <a:pt x="25955" y="0"/>
                    <a:pt x="57971"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5" name="TextBox 5"/>
            <p:cNvSpPr txBox="1"/>
            <p:nvPr/>
          </p:nvSpPr>
          <p:spPr>
            <a:xfrm>
              <a:off x="0" y="-38100"/>
              <a:ext cx="2345671" cy="213863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4431721" y="6929276"/>
            <a:ext cx="3061544" cy="2521404"/>
            <a:chOff x="0" y="0"/>
            <a:chExt cx="574373" cy="473038"/>
          </a:xfrm>
        </p:grpSpPr>
        <p:sp>
          <p:nvSpPr>
            <p:cNvPr id="7" name="Freeform 7"/>
            <p:cNvSpPr/>
            <p:nvPr/>
          </p:nvSpPr>
          <p:spPr>
            <a:xfrm>
              <a:off x="0" y="0"/>
              <a:ext cx="574373" cy="473038"/>
            </a:xfrm>
            <a:custGeom>
              <a:avLst/>
              <a:gdLst/>
              <a:ahLst/>
              <a:cxnLst/>
              <a:rect l="l" t="t" r="r" b="b"/>
              <a:pathLst>
                <a:path w="574373" h="473038">
                  <a:moveTo>
                    <a:pt x="58162" y="0"/>
                  </a:moveTo>
                  <a:lnTo>
                    <a:pt x="516212" y="0"/>
                  </a:lnTo>
                  <a:cubicBezTo>
                    <a:pt x="531637" y="0"/>
                    <a:pt x="546431" y="6128"/>
                    <a:pt x="557338" y="17035"/>
                  </a:cubicBezTo>
                  <a:cubicBezTo>
                    <a:pt x="568245" y="27943"/>
                    <a:pt x="574373" y="42736"/>
                    <a:pt x="574373" y="58162"/>
                  </a:cubicBezTo>
                  <a:lnTo>
                    <a:pt x="574373" y="414876"/>
                  </a:lnTo>
                  <a:cubicBezTo>
                    <a:pt x="574373" y="430302"/>
                    <a:pt x="568245" y="445095"/>
                    <a:pt x="557338" y="456003"/>
                  </a:cubicBezTo>
                  <a:cubicBezTo>
                    <a:pt x="546431" y="466910"/>
                    <a:pt x="531637" y="473038"/>
                    <a:pt x="516212" y="473038"/>
                  </a:cubicBezTo>
                  <a:lnTo>
                    <a:pt x="58162" y="473038"/>
                  </a:lnTo>
                  <a:cubicBezTo>
                    <a:pt x="42736" y="473038"/>
                    <a:pt x="27943" y="466910"/>
                    <a:pt x="17035" y="456003"/>
                  </a:cubicBezTo>
                  <a:cubicBezTo>
                    <a:pt x="6128" y="445095"/>
                    <a:pt x="0" y="430302"/>
                    <a:pt x="0" y="414876"/>
                  </a:cubicBezTo>
                  <a:lnTo>
                    <a:pt x="0" y="58162"/>
                  </a:lnTo>
                  <a:cubicBezTo>
                    <a:pt x="0" y="42736"/>
                    <a:pt x="6128" y="27943"/>
                    <a:pt x="17035" y="17035"/>
                  </a:cubicBezTo>
                  <a:cubicBezTo>
                    <a:pt x="27943" y="6128"/>
                    <a:pt x="42736" y="0"/>
                    <a:pt x="58162" y="0"/>
                  </a:cubicBezTo>
                  <a:close/>
                </a:path>
              </a:pathLst>
            </a:custGeom>
            <a:blipFill>
              <a:blip r:embed="rId4"/>
              <a:stretch>
                <a:fillRect t="-10711" b="-10711"/>
              </a:stretch>
            </a:blipFill>
          </p:spPr>
        </p:sp>
      </p:grpSp>
      <p:grpSp>
        <p:nvGrpSpPr>
          <p:cNvPr id="8" name="Group 8"/>
          <p:cNvGrpSpPr/>
          <p:nvPr/>
        </p:nvGrpSpPr>
        <p:grpSpPr>
          <a:xfrm>
            <a:off x="16249070" y="4638385"/>
            <a:ext cx="1010230" cy="101023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0" name="TextBox 10"/>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1" name="Group 11"/>
          <p:cNvGrpSpPr/>
          <p:nvPr/>
        </p:nvGrpSpPr>
        <p:grpSpPr>
          <a:xfrm>
            <a:off x="13085772" y="7063384"/>
            <a:ext cx="745577" cy="74557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3" name="TextBox 13"/>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4" name="Group 14"/>
          <p:cNvGrpSpPr/>
          <p:nvPr/>
        </p:nvGrpSpPr>
        <p:grpSpPr>
          <a:xfrm>
            <a:off x="13049798" y="1028700"/>
            <a:ext cx="745577" cy="74557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6" name="TextBox 16"/>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grpSp>
        <p:nvGrpSpPr>
          <p:cNvPr id="17" name="Group 17"/>
          <p:cNvGrpSpPr/>
          <p:nvPr/>
        </p:nvGrpSpPr>
        <p:grpSpPr>
          <a:xfrm>
            <a:off x="14094907" y="498537"/>
            <a:ext cx="3735173" cy="3344819"/>
            <a:chOff x="0" y="0"/>
            <a:chExt cx="2345671" cy="2100530"/>
          </a:xfrm>
        </p:grpSpPr>
        <p:sp>
          <p:nvSpPr>
            <p:cNvPr id="18" name="Freeform 18"/>
            <p:cNvSpPr/>
            <p:nvPr/>
          </p:nvSpPr>
          <p:spPr>
            <a:xfrm>
              <a:off x="0" y="0"/>
              <a:ext cx="2345671" cy="2100530"/>
            </a:xfrm>
            <a:custGeom>
              <a:avLst/>
              <a:gdLst/>
              <a:ahLst/>
              <a:cxnLst/>
              <a:rect l="l" t="t" r="r" b="b"/>
              <a:pathLst>
                <a:path w="2345671" h="2100530">
                  <a:moveTo>
                    <a:pt x="57971" y="0"/>
                  </a:moveTo>
                  <a:lnTo>
                    <a:pt x="2287699" y="0"/>
                  </a:lnTo>
                  <a:cubicBezTo>
                    <a:pt x="2319716" y="0"/>
                    <a:pt x="2345671" y="25955"/>
                    <a:pt x="2345671" y="57971"/>
                  </a:cubicBezTo>
                  <a:lnTo>
                    <a:pt x="2345671" y="2042559"/>
                  </a:lnTo>
                  <a:cubicBezTo>
                    <a:pt x="2345671" y="2074576"/>
                    <a:pt x="2319716" y="2100530"/>
                    <a:pt x="2287699" y="2100530"/>
                  </a:cubicBezTo>
                  <a:lnTo>
                    <a:pt x="57971" y="2100530"/>
                  </a:lnTo>
                  <a:cubicBezTo>
                    <a:pt x="25955" y="2100530"/>
                    <a:pt x="0" y="2074576"/>
                    <a:pt x="0" y="2042559"/>
                  </a:cubicBezTo>
                  <a:lnTo>
                    <a:pt x="0" y="57971"/>
                  </a:lnTo>
                  <a:cubicBezTo>
                    <a:pt x="0" y="25955"/>
                    <a:pt x="25955" y="0"/>
                    <a:pt x="57971"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19" name="TextBox 19"/>
            <p:cNvSpPr txBox="1"/>
            <p:nvPr/>
          </p:nvSpPr>
          <p:spPr>
            <a:xfrm>
              <a:off x="0" y="-38100"/>
              <a:ext cx="2345671" cy="213863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4431721" y="704391"/>
            <a:ext cx="3061544" cy="2933111"/>
            <a:chOff x="0" y="0"/>
            <a:chExt cx="574373" cy="550278"/>
          </a:xfrm>
        </p:grpSpPr>
        <p:sp>
          <p:nvSpPr>
            <p:cNvPr id="21" name="Freeform 21"/>
            <p:cNvSpPr/>
            <p:nvPr/>
          </p:nvSpPr>
          <p:spPr>
            <a:xfrm>
              <a:off x="0" y="0"/>
              <a:ext cx="574373" cy="550278"/>
            </a:xfrm>
            <a:custGeom>
              <a:avLst/>
              <a:gdLst/>
              <a:ahLst/>
              <a:cxnLst/>
              <a:rect l="l" t="t" r="r" b="b"/>
              <a:pathLst>
                <a:path w="574373" h="550278">
                  <a:moveTo>
                    <a:pt x="58162" y="0"/>
                  </a:moveTo>
                  <a:lnTo>
                    <a:pt x="516212" y="0"/>
                  </a:lnTo>
                  <a:cubicBezTo>
                    <a:pt x="531637" y="0"/>
                    <a:pt x="546431" y="6128"/>
                    <a:pt x="557338" y="17035"/>
                  </a:cubicBezTo>
                  <a:cubicBezTo>
                    <a:pt x="568245" y="27943"/>
                    <a:pt x="574373" y="42736"/>
                    <a:pt x="574373" y="58162"/>
                  </a:cubicBezTo>
                  <a:lnTo>
                    <a:pt x="574373" y="492116"/>
                  </a:lnTo>
                  <a:cubicBezTo>
                    <a:pt x="574373" y="507542"/>
                    <a:pt x="568245" y="522335"/>
                    <a:pt x="557338" y="533243"/>
                  </a:cubicBezTo>
                  <a:cubicBezTo>
                    <a:pt x="546431" y="544150"/>
                    <a:pt x="531637" y="550278"/>
                    <a:pt x="516212" y="550278"/>
                  </a:cubicBezTo>
                  <a:lnTo>
                    <a:pt x="58162" y="550278"/>
                  </a:lnTo>
                  <a:cubicBezTo>
                    <a:pt x="42736" y="550278"/>
                    <a:pt x="27943" y="544150"/>
                    <a:pt x="17035" y="533243"/>
                  </a:cubicBezTo>
                  <a:cubicBezTo>
                    <a:pt x="6128" y="522335"/>
                    <a:pt x="0" y="507542"/>
                    <a:pt x="0" y="492116"/>
                  </a:cubicBezTo>
                  <a:lnTo>
                    <a:pt x="0" y="58162"/>
                  </a:lnTo>
                  <a:cubicBezTo>
                    <a:pt x="0" y="42736"/>
                    <a:pt x="6128" y="27943"/>
                    <a:pt x="17035" y="17035"/>
                  </a:cubicBezTo>
                  <a:cubicBezTo>
                    <a:pt x="27943" y="6128"/>
                    <a:pt x="42736" y="0"/>
                    <a:pt x="58162" y="0"/>
                  </a:cubicBezTo>
                  <a:close/>
                </a:path>
              </a:pathLst>
            </a:custGeom>
            <a:blipFill>
              <a:blip r:embed="rId5"/>
              <a:stretch>
                <a:fillRect t="-16408" b="-16408"/>
              </a:stretch>
            </a:blipFill>
          </p:spPr>
        </p:sp>
      </p:grpSp>
      <p:grpSp>
        <p:nvGrpSpPr>
          <p:cNvPr id="22" name="Group 22"/>
          <p:cNvGrpSpPr/>
          <p:nvPr/>
        </p:nvGrpSpPr>
        <p:grpSpPr>
          <a:xfrm>
            <a:off x="14094907" y="6410433"/>
            <a:ext cx="3735173" cy="3344819"/>
            <a:chOff x="0" y="0"/>
            <a:chExt cx="2345671" cy="2100530"/>
          </a:xfrm>
        </p:grpSpPr>
        <p:sp>
          <p:nvSpPr>
            <p:cNvPr id="23" name="Freeform 23"/>
            <p:cNvSpPr/>
            <p:nvPr/>
          </p:nvSpPr>
          <p:spPr>
            <a:xfrm>
              <a:off x="0" y="0"/>
              <a:ext cx="2345671" cy="2100530"/>
            </a:xfrm>
            <a:custGeom>
              <a:avLst/>
              <a:gdLst/>
              <a:ahLst/>
              <a:cxnLst/>
              <a:rect l="l" t="t" r="r" b="b"/>
              <a:pathLst>
                <a:path w="2345671" h="2100530">
                  <a:moveTo>
                    <a:pt x="57971" y="0"/>
                  </a:moveTo>
                  <a:lnTo>
                    <a:pt x="2287699" y="0"/>
                  </a:lnTo>
                  <a:cubicBezTo>
                    <a:pt x="2319716" y="0"/>
                    <a:pt x="2345671" y="25955"/>
                    <a:pt x="2345671" y="57971"/>
                  </a:cubicBezTo>
                  <a:lnTo>
                    <a:pt x="2345671" y="2042559"/>
                  </a:lnTo>
                  <a:cubicBezTo>
                    <a:pt x="2345671" y="2074576"/>
                    <a:pt x="2319716" y="2100530"/>
                    <a:pt x="2287699" y="2100530"/>
                  </a:cubicBezTo>
                  <a:lnTo>
                    <a:pt x="57971" y="2100530"/>
                  </a:lnTo>
                  <a:cubicBezTo>
                    <a:pt x="25955" y="2100530"/>
                    <a:pt x="0" y="2074576"/>
                    <a:pt x="0" y="2042559"/>
                  </a:cubicBezTo>
                  <a:lnTo>
                    <a:pt x="0" y="57971"/>
                  </a:lnTo>
                  <a:cubicBezTo>
                    <a:pt x="0" y="25955"/>
                    <a:pt x="25955" y="0"/>
                    <a:pt x="57971"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24" name="TextBox 24"/>
            <p:cNvSpPr txBox="1"/>
            <p:nvPr/>
          </p:nvSpPr>
          <p:spPr>
            <a:xfrm>
              <a:off x="0" y="-38100"/>
              <a:ext cx="2345671" cy="213863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10397016" y="3584458"/>
            <a:ext cx="3061544" cy="2521404"/>
            <a:chOff x="0" y="0"/>
            <a:chExt cx="574373" cy="473038"/>
          </a:xfrm>
        </p:grpSpPr>
        <p:sp>
          <p:nvSpPr>
            <p:cNvPr id="26" name="Freeform 26"/>
            <p:cNvSpPr/>
            <p:nvPr/>
          </p:nvSpPr>
          <p:spPr>
            <a:xfrm>
              <a:off x="0" y="0"/>
              <a:ext cx="574373" cy="473038"/>
            </a:xfrm>
            <a:custGeom>
              <a:avLst/>
              <a:gdLst/>
              <a:ahLst/>
              <a:cxnLst/>
              <a:rect l="l" t="t" r="r" b="b"/>
              <a:pathLst>
                <a:path w="574373" h="473038">
                  <a:moveTo>
                    <a:pt x="58162" y="0"/>
                  </a:moveTo>
                  <a:lnTo>
                    <a:pt x="516212" y="0"/>
                  </a:lnTo>
                  <a:cubicBezTo>
                    <a:pt x="531637" y="0"/>
                    <a:pt x="546431" y="6128"/>
                    <a:pt x="557338" y="17035"/>
                  </a:cubicBezTo>
                  <a:cubicBezTo>
                    <a:pt x="568245" y="27943"/>
                    <a:pt x="574373" y="42736"/>
                    <a:pt x="574373" y="58162"/>
                  </a:cubicBezTo>
                  <a:lnTo>
                    <a:pt x="574373" y="414876"/>
                  </a:lnTo>
                  <a:cubicBezTo>
                    <a:pt x="574373" y="430302"/>
                    <a:pt x="568245" y="445095"/>
                    <a:pt x="557338" y="456003"/>
                  </a:cubicBezTo>
                  <a:cubicBezTo>
                    <a:pt x="546431" y="466910"/>
                    <a:pt x="531637" y="473038"/>
                    <a:pt x="516212" y="473038"/>
                  </a:cubicBezTo>
                  <a:lnTo>
                    <a:pt x="58162" y="473038"/>
                  </a:lnTo>
                  <a:cubicBezTo>
                    <a:pt x="42736" y="473038"/>
                    <a:pt x="27943" y="466910"/>
                    <a:pt x="17035" y="456003"/>
                  </a:cubicBezTo>
                  <a:cubicBezTo>
                    <a:pt x="6128" y="445095"/>
                    <a:pt x="0" y="430302"/>
                    <a:pt x="0" y="414876"/>
                  </a:cubicBezTo>
                  <a:lnTo>
                    <a:pt x="0" y="58162"/>
                  </a:lnTo>
                  <a:cubicBezTo>
                    <a:pt x="0" y="42736"/>
                    <a:pt x="6128" y="27943"/>
                    <a:pt x="17035" y="17035"/>
                  </a:cubicBezTo>
                  <a:cubicBezTo>
                    <a:pt x="27943" y="6128"/>
                    <a:pt x="42736" y="0"/>
                    <a:pt x="58162" y="0"/>
                  </a:cubicBezTo>
                  <a:close/>
                </a:path>
              </a:pathLst>
            </a:custGeom>
            <a:blipFill>
              <a:blip r:embed="rId6"/>
              <a:stretch>
                <a:fillRect l="-2793" r="-2793"/>
              </a:stretch>
            </a:blipFill>
          </p:spPr>
        </p:sp>
      </p:grpSp>
      <p:sp>
        <p:nvSpPr>
          <p:cNvPr id="27" name="Freeform 27"/>
          <p:cNvSpPr/>
          <p:nvPr/>
        </p:nvSpPr>
        <p:spPr>
          <a:xfrm rot="1184083">
            <a:off x="-2837908" y="1272574"/>
            <a:ext cx="5755537" cy="6731622"/>
          </a:xfrm>
          <a:custGeom>
            <a:avLst/>
            <a:gdLst/>
            <a:ahLst/>
            <a:cxnLst/>
            <a:rect l="l" t="t" r="r" b="b"/>
            <a:pathLst>
              <a:path w="5755537" h="6731622">
                <a:moveTo>
                  <a:pt x="0" y="0"/>
                </a:moveTo>
                <a:lnTo>
                  <a:pt x="5755537" y="0"/>
                </a:lnTo>
                <a:lnTo>
                  <a:pt x="5755537" y="6731622"/>
                </a:lnTo>
                <a:lnTo>
                  <a:pt x="0" y="6731622"/>
                </a:lnTo>
                <a:lnTo>
                  <a:pt x="0" y="0"/>
                </a:lnTo>
                <a:close/>
              </a:path>
            </a:pathLst>
          </a:custGeom>
          <a:blipFill>
            <a:blip r:embed="rId7">
              <a:alphaModFix amt="19999"/>
            </a:blip>
            <a:stretch>
              <a:fillRect/>
            </a:stretch>
          </a:blipFill>
        </p:spPr>
      </p:sp>
      <p:sp>
        <p:nvSpPr>
          <p:cNvPr id="28" name="Freeform 28"/>
          <p:cNvSpPr/>
          <p:nvPr/>
        </p:nvSpPr>
        <p:spPr>
          <a:xfrm>
            <a:off x="1401986" y="2441041"/>
            <a:ext cx="5867391" cy="5800717"/>
          </a:xfrm>
          <a:custGeom>
            <a:avLst/>
            <a:gdLst/>
            <a:ahLst/>
            <a:cxnLst/>
            <a:rect l="l" t="t" r="r" b="b"/>
            <a:pathLst>
              <a:path w="5867391" h="5800717">
                <a:moveTo>
                  <a:pt x="0" y="0"/>
                </a:moveTo>
                <a:lnTo>
                  <a:pt x="5867391" y="0"/>
                </a:lnTo>
                <a:lnTo>
                  <a:pt x="5867391" y="5800716"/>
                </a:lnTo>
                <a:lnTo>
                  <a:pt x="0" y="5800716"/>
                </a:lnTo>
                <a:lnTo>
                  <a:pt x="0" y="0"/>
                </a:lnTo>
                <a:close/>
              </a:path>
            </a:pathLst>
          </a:custGeom>
          <a:blipFill>
            <a:blip r:embed="rId8"/>
            <a:stretch>
              <a:fillRect/>
            </a:stretch>
          </a:blipFill>
        </p:spPr>
      </p:sp>
      <p:sp>
        <p:nvSpPr>
          <p:cNvPr id="29" name="TextBox 29"/>
          <p:cNvSpPr txBox="1"/>
          <p:nvPr/>
        </p:nvSpPr>
        <p:spPr>
          <a:xfrm>
            <a:off x="4761881" y="318510"/>
            <a:ext cx="7535553" cy="1018540"/>
          </a:xfrm>
          <a:prstGeom prst="rect">
            <a:avLst/>
          </a:prstGeom>
        </p:spPr>
        <p:txBody>
          <a:bodyPr lIns="0" tIns="0" rIns="0" bIns="0" rtlCol="0" anchor="t">
            <a:spAutoFit/>
          </a:bodyPr>
          <a:lstStyle/>
          <a:p>
            <a:pPr algn="ctr">
              <a:lnSpc>
                <a:spcPts val="7279"/>
              </a:lnSpc>
            </a:pPr>
            <a:r>
              <a:rPr lang="en-US" sz="6999" b="1">
                <a:solidFill>
                  <a:srgbClr val="FFFFFF"/>
                </a:solidFill>
                <a:latin typeface="Poppins Bold"/>
                <a:ea typeface="Poppins Bold"/>
                <a:cs typeface="Poppins Bold"/>
                <a:sym typeface="Poppins Bold"/>
              </a:rPr>
              <a:t>Competitors</a:t>
            </a:r>
          </a:p>
        </p:txBody>
      </p:sp>
      <p:sp>
        <p:nvSpPr>
          <p:cNvPr id="30" name="TextBox 30"/>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sp>
        <p:nvSpPr>
          <p:cNvPr id="31" name="TextBox 31"/>
          <p:cNvSpPr txBox="1"/>
          <p:nvPr/>
        </p:nvSpPr>
        <p:spPr>
          <a:xfrm>
            <a:off x="13049798" y="7309167"/>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sp>
        <p:nvSpPr>
          <p:cNvPr id="32" name="TextBox 32"/>
          <p:cNvSpPr txBox="1"/>
          <p:nvPr/>
        </p:nvSpPr>
        <p:spPr>
          <a:xfrm>
            <a:off x="13049798" y="1274484"/>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sp>
        <p:nvSpPr>
          <p:cNvPr id="3" name="Freeform 3"/>
          <p:cNvSpPr/>
          <p:nvPr/>
        </p:nvSpPr>
        <p:spPr>
          <a:xfrm>
            <a:off x="16751538" y="1028700"/>
            <a:ext cx="507762" cy="308350"/>
          </a:xfrm>
          <a:custGeom>
            <a:avLst/>
            <a:gdLst/>
            <a:ahLst/>
            <a:cxnLst/>
            <a:rect l="l" t="t" r="r" b="b"/>
            <a:pathLst>
              <a:path w="507762" h="308350">
                <a:moveTo>
                  <a:pt x="0" y="0"/>
                </a:moveTo>
                <a:lnTo>
                  <a:pt x="507762" y="0"/>
                </a:lnTo>
                <a:lnTo>
                  <a:pt x="507762" y="308350"/>
                </a:lnTo>
                <a:lnTo>
                  <a:pt x="0" y="30835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rot="1184083">
            <a:off x="6266232" y="1272574"/>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5">
              <a:alphaModFix amt="19999"/>
            </a:blip>
            <a:stretch>
              <a:fillRect/>
            </a:stretch>
          </a:blipFill>
        </p:spPr>
      </p:sp>
      <p:sp>
        <p:nvSpPr>
          <p:cNvPr id="5" name="TextBox 5"/>
          <p:cNvSpPr txBox="1"/>
          <p:nvPr/>
        </p:nvSpPr>
        <p:spPr>
          <a:xfrm>
            <a:off x="2053752" y="3424399"/>
            <a:ext cx="8166308" cy="1505122"/>
          </a:xfrm>
          <a:prstGeom prst="rect">
            <a:avLst/>
          </a:prstGeom>
        </p:spPr>
        <p:txBody>
          <a:bodyPr lIns="0" tIns="0" rIns="0" bIns="0" rtlCol="0" anchor="t">
            <a:spAutoFit/>
          </a:bodyPr>
          <a:lstStyle/>
          <a:p>
            <a:pPr algn="l">
              <a:lnSpc>
                <a:spcPts val="10732"/>
              </a:lnSpc>
            </a:pPr>
            <a:r>
              <a:rPr lang="en-US" sz="10319" b="1">
                <a:solidFill>
                  <a:srgbClr val="FFFFFF"/>
                </a:solidFill>
                <a:latin typeface="Poppins Bold"/>
                <a:ea typeface="Poppins Bold"/>
                <a:cs typeface="Poppins Bold"/>
                <a:sym typeface="Poppins Bold"/>
              </a:rPr>
              <a:t>Thank You</a:t>
            </a:r>
          </a:p>
        </p:txBody>
      </p:sp>
      <p:grpSp>
        <p:nvGrpSpPr>
          <p:cNvPr id="6" name="Group 6"/>
          <p:cNvGrpSpPr/>
          <p:nvPr/>
        </p:nvGrpSpPr>
        <p:grpSpPr>
          <a:xfrm>
            <a:off x="12348310" y="2560493"/>
            <a:ext cx="2632148" cy="2632148"/>
            <a:chOff x="0" y="0"/>
            <a:chExt cx="1652976" cy="1652976"/>
          </a:xfrm>
        </p:grpSpPr>
        <p:sp>
          <p:nvSpPr>
            <p:cNvPr id="7" name="Freeform 7"/>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solidFill>
              <a:srgbClr val="000000">
                <a:alpha val="0"/>
              </a:srgbClr>
            </a:solidFill>
            <a:ln w="19050" cap="rnd">
              <a:gradFill>
                <a:gsLst>
                  <a:gs pos="0">
                    <a:srgbClr val="B900BC">
                      <a:alpha val="100000"/>
                    </a:srgbClr>
                  </a:gs>
                  <a:gs pos="100000">
                    <a:srgbClr val="009CFF">
                      <a:alpha val="100000"/>
                    </a:srgbClr>
                  </a:gs>
                </a:gsLst>
                <a:lin ang="0"/>
              </a:gradFill>
              <a:prstDash val="solid"/>
              <a:round/>
            </a:ln>
          </p:spPr>
        </p:sp>
        <p:sp>
          <p:nvSpPr>
            <p:cNvPr id="8" name="TextBox 8"/>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2506285" y="2713765"/>
            <a:ext cx="2316198" cy="2325603"/>
            <a:chOff x="0" y="0"/>
            <a:chExt cx="404756" cy="406400"/>
          </a:xfrm>
        </p:grpSpPr>
        <p:sp>
          <p:nvSpPr>
            <p:cNvPr id="10" name="Freeform 10"/>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6"/>
              <a:stretch>
                <a:fillRect l="-25351" r="-25351"/>
              </a:stretch>
            </a:blipFill>
          </p:spPr>
        </p:sp>
      </p:grpSp>
      <p:sp>
        <p:nvSpPr>
          <p:cNvPr id="11" name="TextBox 11"/>
          <p:cNvSpPr txBox="1"/>
          <p:nvPr/>
        </p:nvSpPr>
        <p:spPr>
          <a:xfrm>
            <a:off x="2053752" y="4880974"/>
            <a:ext cx="5098154" cy="425450"/>
          </a:xfrm>
          <a:prstGeom prst="rect">
            <a:avLst/>
          </a:prstGeom>
        </p:spPr>
        <p:txBody>
          <a:bodyPr lIns="0" tIns="0" rIns="0" bIns="0" rtlCol="0" anchor="t">
            <a:spAutoFit/>
          </a:bodyPr>
          <a:lstStyle/>
          <a:p>
            <a:pPr algn="just">
              <a:lnSpc>
                <a:spcPts val="3400"/>
              </a:lnSpc>
            </a:pPr>
            <a:r>
              <a:rPr lang="en-US" sz="2000" spc="644">
                <a:solidFill>
                  <a:srgbClr val="FFFFFF"/>
                </a:solidFill>
                <a:latin typeface="Poppins"/>
                <a:ea typeface="Poppins"/>
                <a:cs typeface="Poppins"/>
                <a:sym typeface="Poppins"/>
              </a:rPr>
              <a:t>FOR YOUR ATTENTION</a:t>
            </a:r>
          </a:p>
        </p:txBody>
      </p:sp>
      <p:grpSp>
        <p:nvGrpSpPr>
          <p:cNvPr id="12" name="Group 12"/>
          <p:cNvGrpSpPr/>
          <p:nvPr/>
        </p:nvGrpSpPr>
        <p:grpSpPr>
          <a:xfrm>
            <a:off x="16249070" y="4638385"/>
            <a:ext cx="1010230" cy="101023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4" name="TextBox 14"/>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15" name="TextBox 15"/>
          <p:cNvSpPr txBox="1"/>
          <p:nvPr/>
        </p:nvSpPr>
        <p:spPr>
          <a:xfrm>
            <a:off x="16249070" y="4964651"/>
            <a:ext cx="1010230" cy="376748"/>
          </a:xfrm>
          <a:prstGeom prst="rect">
            <a:avLst/>
          </a:prstGeom>
        </p:spPr>
        <p:txBody>
          <a:bodyPr lIns="0" tIns="0" rIns="0" bIns="0" rtlCol="0" anchor="t">
            <a:spAutoFit/>
          </a:bodyPr>
          <a:lstStyle/>
          <a:p>
            <a:pPr algn="ctr">
              <a:lnSpc>
                <a:spcPts val="2703"/>
              </a:lnSpc>
            </a:pPr>
            <a:r>
              <a:rPr lang="en-US" sz="2599" b="1">
                <a:solidFill>
                  <a:srgbClr val="FFFFFF"/>
                </a:solidFill>
                <a:latin typeface="Poppins Bold"/>
                <a:ea typeface="Poppins Bold"/>
                <a:cs typeface="Poppins Bold"/>
                <a:sym typeface="Poppins Bold"/>
              </a:rPr>
              <a:t>02</a:t>
            </a:r>
          </a:p>
        </p:txBody>
      </p:sp>
      <p:grpSp>
        <p:nvGrpSpPr>
          <p:cNvPr id="16" name="Group 16"/>
          <p:cNvGrpSpPr/>
          <p:nvPr/>
        </p:nvGrpSpPr>
        <p:grpSpPr>
          <a:xfrm>
            <a:off x="16381397" y="6183699"/>
            <a:ext cx="745577" cy="74557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18" name="TextBox 18"/>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19" name="TextBox 19"/>
          <p:cNvSpPr txBox="1"/>
          <p:nvPr/>
        </p:nvSpPr>
        <p:spPr>
          <a:xfrm>
            <a:off x="16381397" y="6429483"/>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03</a:t>
            </a:r>
          </a:p>
        </p:txBody>
      </p:sp>
      <p:grpSp>
        <p:nvGrpSpPr>
          <p:cNvPr id="20" name="Group 20"/>
          <p:cNvGrpSpPr/>
          <p:nvPr/>
        </p:nvGrpSpPr>
        <p:grpSpPr>
          <a:xfrm>
            <a:off x="16381397" y="3357724"/>
            <a:ext cx="745577" cy="7455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B900BC">
                      <a:alpha val="100000"/>
                    </a:srgbClr>
                  </a:gs>
                  <a:gs pos="100000">
                    <a:srgbClr val="009CFF">
                      <a:alpha val="100000"/>
                    </a:srgbClr>
                  </a:gs>
                </a:gsLst>
                <a:lin ang="0"/>
              </a:gradFill>
              <a:prstDash val="solid"/>
              <a:miter/>
            </a:ln>
          </p:spPr>
        </p:sp>
        <p:sp>
          <p:nvSpPr>
            <p:cNvPr id="22" name="TextBox 22"/>
            <p:cNvSpPr txBox="1"/>
            <p:nvPr/>
          </p:nvSpPr>
          <p:spPr>
            <a:xfrm>
              <a:off x="76200" y="85725"/>
              <a:ext cx="660400" cy="650875"/>
            </a:xfrm>
            <a:prstGeom prst="rect">
              <a:avLst/>
            </a:prstGeom>
          </p:spPr>
          <p:txBody>
            <a:bodyPr lIns="50800" tIns="50800" rIns="50800" bIns="50800" rtlCol="0" anchor="ctr"/>
            <a:lstStyle/>
            <a:p>
              <a:pPr algn="ctr">
                <a:lnSpc>
                  <a:spcPts val="2080"/>
                </a:lnSpc>
              </a:pPr>
              <a:endParaRPr/>
            </a:p>
          </p:txBody>
        </p:sp>
      </p:grpSp>
      <p:sp>
        <p:nvSpPr>
          <p:cNvPr id="23" name="TextBox 23"/>
          <p:cNvSpPr txBox="1"/>
          <p:nvPr/>
        </p:nvSpPr>
        <p:spPr>
          <a:xfrm>
            <a:off x="16381397" y="3603508"/>
            <a:ext cx="745577" cy="273060"/>
          </a:xfrm>
          <a:prstGeom prst="rect">
            <a:avLst/>
          </a:prstGeom>
        </p:spPr>
        <p:txBody>
          <a:bodyPr lIns="0" tIns="0" rIns="0" bIns="0" rtlCol="0" anchor="t">
            <a:spAutoFit/>
          </a:bodyPr>
          <a:lstStyle/>
          <a:p>
            <a:pPr algn="ctr">
              <a:lnSpc>
                <a:spcPts val="1995"/>
              </a:lnSpc>
            </a:pPr>
            <a:r>
              <a:rPr lang="en-US" sz="1918" b="1">
                <a:solidFill>
                  <a:srgbClr val="FFFFFF"/>
                </a:solidFill>
                <a:latin typeface="Poppins Bold"/>
                <a:ea typeface="Poppins Bold"/>
                <a:cs typeface="Poppins Bold"/>
                <a:sym typeface="Poppins Bold"/>
              </a:rPr>
              <a: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213</Words>
  <Application>Microsoft Office PowerPoint</Application>
  <PresentationFormat>Custom</PresentationFormat>
  <Paragraphs>45</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Tex Gyre Bonum</vt:lpstr>
      <vt:lpstr>Poppins Bold</vt:lpstr>
      <vt:lpstr>Calibri</vt:lpstr>
      <vt:lpstr>Poppins</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Purple Gradient Modern Data Analyst Presentation</dc:title>
  <cp:lastModifiedBy>HP</cp:lastModifiedBy>
  <cp:revision>2</cp:revision>
  <dcterms:created xsi:type="dcterms:W3CDTF">2006-08-16T00:00:00Z</dcterms:created>
  <dcterms:modified xsi:type="dcterms:W3CDTF">2025-12-03T17:10:31Z</dcterms:modified>
  <dc:identifier>DAG6Vq3Hia0</dc:identifier>
</cp:coreProperties>
</file>